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a2bbd00b204c9e" /><Relationship Type="http://schemas.openxmlformats.org/officeDocument/2006/relationships/extended-properties" Target="/docProps/app.xml" Id="R7eddbac556c14867" /><Relationship Type="http://schemas.openxmlformats.org/officeDocument/2006/relationships/officeDocument" Target="/ppt/presentation.xml" Id="R2f214d131aa240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7db418c1b4118"/>
  </p:sldMasterIdLst>
  <p:notesMasterIdLst>
    <p:notesMasterId xmlns:r="http://schemas.openxmlformats.org/officeDocument/2006/relationships" r:id="R5884674870444194"/>
  </p:notesMasterIdLst>
  <p:sldIdLst>
    <p:sldId xmlns:r="http://schemas.openxmlformats.org/officeDocument/2006/relationships" id="256" r:id="Rd12fbfc028ae4e9a"/>
    <p:sldId xmlns:r="http://schemas.openxmlformats.org/officeDocument/2006/relationships" id="257" r:id="Rf874e91ff3cd4fb8"/>
    <p:sldId xmlns:r="http://schemas.openxmlformats.org/officeDocument/2006/relationships" id="258" r:id="R794f54b0d23b41b9"/>
    <p:sldId xmlns:r="http://schemas.openxmlformats.org/officeDocument/2006/relationships" id="259" r:id="Rb1954e046ddc4448"/>
    <p:sldId xmlns:r="http://schemas.openxmlformats.org/officeDocument/2006/relationships" id="260" r:id="R38e284d5bb144f92"/>
    <p:sldId xmlns:r="http://schemas.openxmlformats.org/officeDocument/2006/relationships" id="261" r:id="R7efc60c911894496"/>
    <p:sldId xmlns:r="http://schemas.openxmlformats.org/officeDocument/2006/relationships" id="262" r:id="R5e7295bf119e42cf"/>
    <p:sldId xmlns:r="http://schemas.openxmlformats.org/officeDocument/2006/relationships" id="263" r:id="R08064907153c4680"/>
    <p:sldId xmlns:r="http://schemas.openxmlformats.org/officeDocument/2006/relationships" id="264" r:id="Rb1b8cca239244f55"/>
    <p:sldId xmlns:r="http://schemas.openxmlformats.org/officeDocument/2006/relationships" id="265" r:id="Re1627106b8554bc8"/>
    <p:sldId xmlns:r="http://schemas.openxmlformats.org/officeDocument/2006/relationships" id="266" r:id="R3e379e88238844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2e87f6877e4ac8" /><Relationship Type="http://schemas.openxmlformats.org/officeDocument/2006/relationships/slideMaster" Target="/ppt/slideMasters/slideMaster1.xml" Id="R2bd7db418c1b4118" /><Relationship Type="http://schemas.openxmlformats.org/officeDocument/2006/relationships/notesMaster" Target="/ppt/notesMasters/notesMaster1.xml" Id="R5884674870444194" /><Relationship Type="http://schemas.openxmlformats.org/officeDocument/2006/relationships/presProps" Target="/ppt/presProps.xml" Id="Ra6a0381c6ee94d79" /><Relationship Type="http://schemas.openxmlformats.org/officeDocument/2006/relationships/tableStyles" Target="/ppt/tableStyles.xml" Id="R92557d18cbcb40a8" /><Relationship Type="http://schemas.openxmlformats.org/officeDocument/2006/relationships/slide" Target="/ppt/slides/slide1.xml" Id="Rd12fbfc028ae4e9a" /><Relationship Type="http://schemas.openxmlformats.org/officeDocument/2006/relationships/slide" Target="/ppt/slides/slide2.xml" Id="Rf874e91ff3cd4fb8" /><Relationship Type="http://schemas.openxmlformats.org/officeDocument/2006/relationships/slide" Target="/ppt/slides/slide3.xml" Id="R794f54b0d23b41b9" /><Relationship Type="http://schemas.openxmlformats.org/officeDocument/2006/relationships/slide" Target="/ppt/slides/slide4.xml" Id="Rb1954e046ddc4448" /><Relationship Type="http://schemas.openxmlformats.org/officeDocument/2006/relationships/slide" Target="/ppt/slides/slide5.xml" Id="R38e284d5bb144f92" /><Relationship Type="http://schemas.openxmlformats.org/officeDocument/2006/relationships/slide" Target="/ppt/slides/slide6.xml" Id="R7efc60c911894496" /><Relationship Type="http://schemas.openxmlformats.org/officeDocument/2006/relationships/slide" Target="/ppt/slides/slide7.xml" Id="R5e7295bf119e42cf" /><Relationship Type="http://schemas.openxmlformats.org/officeDocument/2006/relationships/slide" Target="/ppt/slides/slide8.xml" Id="R08064907153c4680" /><Relationship Type="http://schemas.openxmlformats.org/officeDocument/2006/relationships/slide" Target="/ppt/slides/slide9.xml" Id="Rb1b8cca239244f55" /><Relationship Type="http://schemas.openxmlformats.org/officeDocument/2006/relationships/slide" Target="/ppt/slides/slide10.xml" Id="Re1627106b8554bc8" /><Relationship Type="http://schemas.openxmlformats.org/officeDocument/2006/relationships/slide" Target="/ppt/slides/slide11.xml" Id="R3e379e882388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458267144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c79f7a3a340ea" /><Relationship Type="http://schemas.openxmlformats.org/officeDocument/2006/relationships/notesMaster" Target="/ppt/notesMasters/notesMaster1.xml" Id="Rc67ece39315e4a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de478e79a408d" /><Relationship Type="http://schemas.openxmlformats.org/officeDocument/2006/relationships/notesMaster" Target="/ppt/notesMasters/notesMaster1.xml" Id="R203a2f9b91be42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5b5f1a5d1e48ff" /><Relationship Type="http://schemas.openxmlformats.org/officeDocument/2006/relationships/notesMaster" Target="/ppt/notesMasters/notesMaster1.xml" Id="R842465cb35e848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596d82159a4a24" /><Relationship Type="http://schemas.openxmlformats.org/officeDocument/2006/relationships/notesMaster" Target="/ppt/notesMasters/notesMaster1.xml" Id="R3d73b02238d04f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a7b8394ed44938" /><Relationship Type="http://schemas.openxmlformats.org/officeDocument/2006/relationships/notesMaster" Target="/ppt/notesMasters/notesMaster1.xml" Id="R17a08111ab8442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5b309252e94e7e" /><Relationship Type="http://schemas.openxmlformats.org/officeDocument/2006/relationships/notesMaster" Target="/ppt/notesMasters/notesMaster1.xml" Id="Re2529b48f1864d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b9050e0dcd4bd4" /><Relationship Type="http://schemas.openxmlformats.org/officeDocument/2006/relationships/notesMaster" Target="/ppt/notesMasters/notesMaster1.xml" Id="R6a0716977fda49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74f1b0533049d8" /><Relationship Type="http://schemas.openxmlformats.org/officeDocument/2006/relationships/notesMaster" Target="/ppt/notesMasters/notesMaster1.xml" Id="Rfa68da8cbc9a46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a6b31064154048" /><Relationship Type="http://schemas.openxmlformats.org/officeDocument/2006/relationships/notesMaster" Target="/ppt/notesMasters/notesMaster1.xml" Id="R48e2f0607f644a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3434d43fda421a" /><Relationship Type="http://schemas.openxmlformats.org/officeDocument/2006/relationships/notesMaster" Target="/ppt/notesMasters/notesMaster1.xml" Id="Rfdbf478d6cef4a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5665f79afc4777" /><Relationship Type="http://schemas.openxmlformats.org/officeDocument/2006/relationships/notesMaster" Target="/ppt/notesMasters/notesMaster1.xml" Id="R82f2eb889a1d42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product is a supervised outcome system, not a collection of chatbots.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McKinsey, The State of AI (2025): https://www.mckinsey.com/capabilities/quantumblack/our-insights/the-state-of-ai</a:t>
            </a:r>
          </a:p>
          <a:p xmlns:a="http://schemas.openxmlformats.org/drawingml/2006/main">
            <a:r>
              <a:t>U.S. Small Business Administration, 2025 Small Business Profile: https://advocacy.sba.gov/wp-content/uploads/2025/06/United_States_2025-State-Profile.pdf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FTC Endorsement Guides and testimonial disclosure guidance: https://www.ftc.gov/business-guidance/advertising-marketing/endorsements-influencers-reviews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601c3dc3f44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e5ab8a03fc4f54" /><Relationship Type="http://schemas.openxmlformats.org/officeDocument/2006/relationships/slideLayout" Target="/ppt/slideLayouts/slideLayout1.xml" Id="Re4bd0834e35e4e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bd0834e35e4e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4b21bb80844cf" /><Relationship Type="http://schemas.openxmlformats.org/officeDocument/2006/relationships/image" Target="/ppt/media/image.png" Id="R63936f8d86714085" /><Relationship Type="http://schemas.openxmlformats.org/officeDocument/2006/relationships/notesSlide" Target="/ppt/notesSlides/notesSlide1.xml" Id="R2b5bc0eecea741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82341459f4eca" /><Relationship Type="http://schemas.openxmlformats.org/officeDocument/2006/relationships/notesSlide" Target="/ppt/notesSlides/notesSlide2.xml" Id="Red74fa8dbb844c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14930fcb1415b" /><Relationship Type="http://schemas.openxmlformats.org/officeDocument/2006/relationships/notesSlide" Target="/ppt/notesSlides/notesSlide3.xml" Id="Rf7eac52409c148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7a2f9d7054a16" /><Relationship Type="http://schemas.openxmlformats.org/officeDocument/2006/relationships/notesSlide" Target="/ppt/notesSlides/notesSlide4.xml" Id="Rc7e58349549143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d9603148848e5" /><Relationship Type="http://schemas.openxmlformats.org/officeDocument/2006/relationships/notesSlide" Target="/ppt/notesSlides/notesSlide5.xml" Id="Rac3af88ac614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d2ade0ccf4364" /><Relationship Type="http://schemas.openxmlformats.org/officeDocument/2006/relationships/notesSlide" Target="/ppt/notesSlides/notesSlide6.xml" Id="R417f3cd5f4b04b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ad7e65f9145dc" /><Relationship Type="http://schemas.openxmlformats.org/officeDocument/2006/relationships/notesSlide" Target="/ppt/notesSlides/notesSlide7.xml" Id="R711d1b620e7440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ef89659334d02" /><Relationship Type="http://schemas.openxmlformats.org/officeDocument/2006/relationships/notesSlide" Target="/ppt/notesSlides/notesSlide8.xml" Id="R6b05de7ac9da40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9162a50394eda" /><Relationship Type="http://schemas.openxmlformats.org/officeDocument/2006/relationships/chart" Target="/ppt/slides/charts/chart1.xml" Id="R6c43f0fa44b747e8" /><Relationship Type="http://schemas.openxmlformats.org/officeDocument/2006/relationships/notesSlide" Target="/ppt/notesSlides/notesSlide9.xml" Id="R0422afe53e6641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23c4935f64e8e" /><Relationship Type="http://schemas.openxmlformats.org/officeDocument/2006/relationships/notesSlide" Target="/ppt/notesSlides/notesSlide10.xml" Id="Re8d84984db224a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a1d64747f4f3f" /><Relationship Type="http://schemas.openxmlformats.org/officeDocument/2006/relationships/notesSlide" Target="/ppt/notesSlides/notesSlide11.xml" Id="R79b25ed9557447a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Monthly revenue</c:v>
          </c:tx>
          <c:spPr>
            <a:solidFill xmlns:a="http://schemas.openxmlformats.org/drawingml/2006/main">
              <a:srgbClr val="38E8FF"/>
            </a:solidFill>
          </c:spPr>
          <c:cat>
            <c:strLit>
              <c:ptCount val="3"/>
              <c:pt idx="0">
                <c:v>Validation
5 clients</c:v>
              </c:pt>
              <c:pt idx="1">
                <c:v>Traction
15 clients</c:v>
              </c:pt>
              <c:pt idx="2">
                <c:v>Scale
40 clients</c:v>
              </c:pt>
            </c:strLit>
          </c:cat>
          <c:val>
            <c:numLit>
              <c:formatCode>General</c:formatCode>
              <c:ptCount val="3"/>
              <c:pt idx="0">
                <c:v>15500</c:v>
              </c:pt>
              <c:pt idx="1">
                <c:v>43500</c:v>
              </c:pt>
              <c:pt idx="2">
                <c:v>112000</c:v>
              </c:pt>
            </c:numLit>
          </c:val>
        </c:ser>
        <c:ser>
          <c:idx val="1"/>
          <c:order val="1"/>
          <c:tx>
            <c:v>Illustrative gross profit</c:v>
          </c:tx>
          <c:spPr>
            <a:solidFill xmlns:a="http://schemas.openxmlformats.org/drawingml/2006/main">
              <a:srgbClr val="8DFFBC"/>
            </a:solidFill>
          </c:spPr>
          <c:cat>
            <c:strLit>
              <c:ptCount val="3"/>
              <c:pt idx="0">
                <c:v>Validation
5 clients</c:v>
              </c:pt>
              <c:pt idx="1">
                <c:v>Traction
15 clients</c:v>
              </c:pt>
              <c:pt idx="2">
                <c:v>Scale
40 clients</c:v>
              </c:pt>
            </c:strLit>
          </c:cat>
          <c:val>
            <c:numLit>
              <c:formatCode>General</c:formatCode>
              <c:ptCount val="3"/>
              <c:pt idx="0">
                <c:v>12400</c:v>
              </c:pt>
              <c:pt idx="1">
                <c:v>34800</c:v>
              </c:pt>
              <c:pt idx="2">
                <c:v>89600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Monthly scenario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1C44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3000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36f8d86714085"/>
          <a:srcRect xmlns:a="http://schemas.openxmlformats.org/drawingml/2006/main" l="20688" t="0" r="20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865BE-DDB1-4FF9-AFBE-C44E2DC7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C7333-2A73-43BE-B740-EB3DD634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E8FF"/>
                </a:solidFill>
              </a:defRPr>
            </a:pPr>
            <a:r>
              <a:rPr sz="975" b="1">
                <a:solidFill>
                  <a:srgbClr val="38E8FF"/>
                </a:solidFill>
              </a:rPr>
              <a:t>JARVIS WORKFORCE HQ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E7F59-2D0F-4C03-8763-51F5E71E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81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4FBFF"/>
                </a:solidFill>
              </a:defRPr>
            </a:pPr>
            <a:r>
              <a:rPr sz="3825" b="1">
                <a:solidFill>
                  <a:srgbClr val="F4FBFF"/>
                </a:solidFill>
              </a:rPr>
              <a:t>One owner.</a:t>
            </a:r>
          </a:p>
          <a:p xmlns:a="http://schemas.openxmlformats.org/drawingml/2006/main">
            <a:pPr algn="l">
              <a:defRPr sz="3825" b="1">
                <a:solidFill>
                  <a:srgbClr val="F4FBFF"/>
                </a:solidFill>
              </a:defRPr>
            </a:pPr>
            <a:r>
              <a:rPr sz="3825" b="1">
                <a:solidFill>
                  <a:srgbClr val="F4FBFF"/>
                </a:solidFill>
              </a:rPr>
              <a:t>One command layer.</a:t>
            </a:r>
          </a:p>
          <a:p xmlns:a="http://schemas.openxmlformats.org/drawingml/2006/main">
            <a:pPr algn="l">
              <a:defRPr sz="3825" b="1">
                <a:solidFill>
                  <a:srgbClr val="F4FBFF"/>
                </a:solidFill>
              </a:defRPr>
            </a:pPr>
            <a:r>
              <a:rPr sz="3825" b="1">
                <a:solidFill>
                  <a:srgbClr val="F4FBFF"/>
                </a:solidFill>
              </a:rPr>
              <a:t>An entire supervised AI workforce.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A8065-5CF6-476E-8D82-8F6CDCA3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EA7B7"/>
                </a:solidFill>
              </a:defRPr>
            </a:pPr>
            <a:r>
              <a:rPr sz="1425" b="0">
                <a:solidFill>
                  <a:srgbClr val="8EA7B7"/>
                </a:solidFill>
              </a:rPr>
              <a:t>A market-ready product, proof system, and recurring-revenue model for owner-led service businesses.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70846-B9B1-4D16-BD1C-E23EC51C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F4FF"/>
                </a:solidFill>
              </a:defRPr>
            </a:pPr>
            <a:r>
              <a:rPr sz="825" b="1">
                <a:solidFill>
                  <a:srgbClr val="9AF4FF"/>
                </a:solidFill>
              </a:rPr>
              <a:t>ATTENTION  →  TRUST  →  PROOF  →  RETENTION</a:t>
            </a:r>
          </a:p>
        </p:txBody>
      </p:sp>
    </p:spTree>
    <p:extLst>
      <p:ext uri="{BB962C8B-B14F-4D97-AF65-F5344CB8AC3E}">
        <p14:creationId xmlns:p14="http://schemas.microsoft.com/office/powerpoint/2010/main" val="1982246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38E0D-D083-42EB-AF70-AAB966BF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THE 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C7887-B8A4-42F8-9C0A-740D7D8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B14B3-749A-4197-8CAE-6D67E1F4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AI interest is widespread. Scaled execution is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A5B0B-5747-4434-929B-346F2A9C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The opportunity sits between experimentation and dependable operating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03BE1-065E-4CCB-8A4D-2B7492D9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38E8FF"/>
                </a:solidFill>
              </a:defRPr>
            </a:pPr>
            <a:r>
              <a:rPr sz="6150" b="1">
                <a:solidFill>
                  <a:srgbClr val="38E8FF"/>
                </a:solidFill>
              </a:rPr>
              <a:t>88%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FF848-907F-455A-8D8D-70D9C5BC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of surveyed organizations use AI in at least one business function.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817E6-A4C3-422C-BB76-376AF348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98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FFD18-80D4-45A9-9D4F-236C3D0A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9AF4FF"/>
                </a:solidFill>
              </a:defRPr>
            </a:pPr>
            <a:r>
              <a:rPr sz="5400" b="1">
                <a:solidFill>
                  <a:srgbClr val="9AF4FF"/>
                </a:solidFill>
              </a:rPr>
              <a:t>≈ 2/3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163F9-95F4-4CE2-9B4F-BE79521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957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had not yet begun scaling AI enterprise-wide.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7650A-300E-492F-AF8F-87382F03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4E009-4F5B-4C16-958B-B9A69661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8DFFBC"/>
                </a:solidFill>
              </a:defRPr>
            </a:pPr>
            <a:r>
              <a:rPr sz="5400" b="1">
                <a:solidFill>
                  <a:srgbClr val="8DFFBC"/>
                </a:solidFill>
              </a:rPr>
              <a:t>36.2M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539D5-46F7-4BF4-B1F0-911B1EB5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U.S. small businesses create a vast market for practical implementation.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6870D-E062-491D-BEF2-657EC8A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8EA7B7"/>
                </a:solidFill>
              </a:defRPr>
            </a:pPr>
            <a:r>
              <a:rPr sz="1800" b="0">
                <a:solidFill>
                  <a:srgbClr val="8EA7B7"/>
                </a:solidFill>
              </a:rPr>
              <a:t>The wedge: help smaller teams install one measurable workflow with supervision, proof, and an accountable review point.</a:t>
            </a:r>
          </a:p>
        </p:txBody>
      </p:sp>
    </p:spTree>
    <p:extLst>
      <p:ext uri="{BB962C8B-B14F-4D97-AF65-F5344CB8AC3E}">
        <p14:creationId xmlns:p14="http://schemas.microsoft.com/office/powerpoint/2010/main" val="15070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C436CE-325F-46EA-92C0-B3B7C7E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A94C0-17FC-4CE2-92CC-2B93BFD1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A60DC-7AE8-4D63-A085-756BCB29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Customers brief Jarvis—not a maze of bots.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89CAB-FFC6-4B89-B4A5-8D3CED6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Jarvis assigns the mission, coordinates specialists, checks risk, and returns one decision-ready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C2408-3E9B-4872-B33C-AE9E1068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77662-8BB6-4554-A48B-9555AFE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29FFE-D5F0-4944-AA1B-1D4A0FF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BFF"/>
                </a:solidFill>
              </a:defRPr>
            </a:pPr>
            <a:r>
              <a:rPr sz="1875" b="1">
                <a:solidFill>
                  <a:srgbClr val="F4FBFF"/>
                </a:solidFill>
              </a:rPr>
              <a:t>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D85BF-D0DC-4442-AFB2-8FF2BB64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One business objective and one measurable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A860F-5F53-4C4A-9A06-94D2C7B6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06B7B"/>
                </a:solidFill>
              </a:defRPr>
            </a:pPr>
            <a:r>
              <a:rPr sz="1875" b="1">
                <a:solidFill>
                  <a:srgbClr val="506B7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A6863-A84A-4CC1-B8F3-0DE2EF3D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B4BD4-3E73-4500-8280-41E035D5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C61EA-6DDF-4199-A73F-BB52C8C8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BFF"/>
                </a:solidFill>
              </a:defRPr>
            </a:pPr>
            <a:r>
              <a:rPr sz="1875" b="1">
                <a:solidFill>
                  <a:srgbClr val="F4FBFF"/>
                </a:solidFill>
              </a:rPr>
              <a:t>Specialists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7E72B-6C79-4712-A6A1-DB629726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Strategy, build, language, operations, security, and compliance.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F3881-ECFB-4A08-A352-C636A35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06B7B"/>
                </a:solidFill>
              </a:defRPr>
            </a:pPr>
            <a:r>
              <a:rPr sz="1875" b="1">
                <a:solidFill>
                  <a:srgbClr val="506B7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7FE84-9D52-4D8B-82DF-EC743A09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F2522-B3F2-45D4-83FD-6421AC0E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57FBE-8C2E-48BF-AB23-4FE1E6F0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BFF"/>
                </a:solidFill>
              </a:defRPr>
            </a:pPr>
            <a:r>
              <a:rPr sz="1875" b="1">
                <a:solidFill>
                  <a:srgbClr val="F4FBFF"/>
                </a:solidFill>
              </a:rPr>
              <a:t>Jarvis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B6622-B1DC-4BAB-A69D-5D52A656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Evidence, assumptions, risks, and the exact action awaiting approval.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46303-CD09-4BB8-951E-71220767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06B7B"/>
                </a:solidFill>
              </a:defRPr>
            </a:pPr>
            <a:r>
              <a:rPr sz="1875" b="1">
                <a:solidFill>
                  <a:srgbClr val="506B7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8FC7B-C022-4CDE-BE73-68034B29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38FDB-B5D8-4581-B344-513C0BCE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46DA-5510-45B1-97AA-FFC618C0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BFF"/>
                </a:solidFill>
              </a:defRPr>
            </a:pPr>
            <a:r>
              <a:rPr sz="1875" b="1">
                <a:solidFill>
                  <a:srgbClr val="F4FBFF"/>
                </a:solidFill>
              </a:rPr>
              <a:t>Human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57EE0-16D0-46DC-85A1-8B94108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Approve, revise, reject, or escalate before consequential 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05B31-20ED-4371-ADDD-63CA1D7E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82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2734"/>
          </a:solidFill>
          <a:ln xmlns:a="http://schemas.openxmlformats.org/drawingml/2006/main" w="9525">
            <a:solidFill>
              <a:srgbClr val="38E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81230-B48D-45AB-9673-DE171B7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E8FF"/>
                </a:solidFill>
              </a:defRPr>
            </a:pPr>
            <a:r>
              <a:rPr sz="1650" b="1">
                <a:solidFill>
                  <a:srgbClr val="38E8FF"/>
                </a:solidFill>
              </a:rPr>
              <a:t>JARVIS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086B8-FCB9-44DF-88DD-90B30079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054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BFF"/>
                </a:solidFill>
              </a:defRPr>
            </a:pPr>
            <a:r>
              <a:rPr sz="1350" b="0">
                <a:solidFill>
                  <a:srgbClr val="F4FBFF"/>
                </a:solidFill>
              </a:rPr>
              <a:t>The final AI coordination and review gate. Authorized humans retain control over consequential actions.</a:t>
            </a:r>
          </a:p>
        </p:txBody>
      </p:sp>
    </p:spTree>
    <p:extLst>
      <p:ext uri="{BB962C8B-B14F-4D97-AF65-F5344CB8AC3E}">
        <p14:creationId xmlns:p14="http://schemas.microsoft.com/office/powerpoint/2010/main" val="2044070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0559A-221A-4230-BCFB-1BC87452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THE WORKFORCE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D63EB-5789-450F-8A74-7D80495B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FA248-C5D6-4C7F-97CC-3838F201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Twenty specialists behave like one accountable operating team.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5DC12-E253-4E12-ACEC-99F05AC3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Each role has defined inputs, outputs, boundaries, and an escalation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1620B-75C0-46FC-B3DD-BB651DA8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E8FF"/>
                </a:solidFill>
              </a:defRPr>
            </a:pPr>
            <a:r>
              <a:rPr sz="900" b="1">
                <a:solidFill>
                  <a:srgbClr val="38E8FF"/>
                </a:solidFill>
              </a:rPr>
              <a:t>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5EE2D-BB42-465A-99C2-918033F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BFF"/>
                </a:solidFill>
              </a:defRPr>
            </a:pPr>
            <a:r>
              <a:rPr sz="1275" b="1">
                <a:solidFill>
                  <a:srgbClr val="F4FBFF"/>
                </a:solidFill>
              </a:rPr>
              <a:t>MARK · DUSTIN · PAM · JIM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5BC86-AF8E-4746-9405-E211AC59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Offer, ROI, roadmap,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06B47-182A-43DF-9C82-839ABC44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5ACB1-CECA-465C-8E27-357CDF96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E8FF"/>
                </a:solidFill>
              </a:defRPr>
            </a:pPr>
            <a:r>
              <a:rPr sz="900" b="1">
                <a:solidFill>
                  <a:srgbClr val="38E8FF"/>
                </a:solidFill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3BD87-4819-4784-BEE1-6430638B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BFF"/>
                </a:solidFill>
              </a:defRPr>
            </a:pPr>
            <a:r>
              <a:rPr sz="1275" b="1">
                <a:solidFill>
                  <a:srgbClr val="F4FBFF"/>
                </a:solidFill>
              </a:rPr>
              <a:t>BOB · LEO · HAL · DAVE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296BB-AF6D-4E5B-BC7D-07F1BB6B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Automation, APIs, ML,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E5663-6FE2-41A9-8D46-19FD918A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3108B-5AEB-4F5C-9E2C-FD48905F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E8FF"/>
                </a:solidFill>
              </a:defRPr>
            </a:pPr>
            <a:r>
              <a:rPr sz="900" b="1">
                <a:solidFill>
                  <a:srgbClr val="38E8FF"/>
                </a:solidFill>
              </a:rPr>
              <a:t>LANGUAGE +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A3E53-3D63-4561-91FC-2C45CE4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BFF"/>
                </a:solidFill>
              </a:defRPr>
            </a:pPr>
            <a:r>
              <a:rPr sz="1275" b="1">
                <a:solidFill>
                  <a:srgbClr val="F4FBFF"/>
                </a:solidFill>
              </a:rPr>
              <a:t>JAN · STEVE · NEIL · CARL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C9BED-E86C-401C-B16E-0D4CFD58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RAG, analysis,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B3DEC-47CE-43E4-8F76-0A88477D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B0B5D-3BBA-4C3A-919F-5BFFF6F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E8FF"/>
                </a:solidFill>
              </a:defRPr>
            </a:pPr>
            <a:r>
              <a:rPr sz="900" b="1">
                <a:solidFill>
                  <a:srgbClr val="38E8FF"/>
                </a:solidFill>
              </a:rPr>
              <a:t>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E47D1-C49F-4173-BBA5-E2AEADE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BFF"/>
                </a:solidFill>
              </a:defRPr>
            </a:pPr>
            <a:r>
              <a:rPr sz="1275" b="1">
                <a:solidFill>
                  <a:srgbClr val="F4FBFF"/>
                </a:solidFill>
              </a:rPr>
              <a:t>TED · JOHN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3BB88-B72B-4816-8F6C-62EF8713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Deploy, monitor, improve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E0696-D9E7-44D9-823B-DA6D71F5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40825-C55E-4280-A3E6-CEB9F358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DFFBC"/>
                </a:solidFill>
              </a:defRPr>
            </a:pPr>
            <a:r>
              <a:rPr sz="900" b="1">
                <a:solidFill>
                  <a:srgbClr val="8DFFBC"/>
                </a:solidFill>
              </a:rPr>
              <a:t>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CF042-B9F7-4B65-A8D9-30F0B9C6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149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BFF"/>
                </a:solidFill>
              </a:defRPr>
            </a:pPr>
            <a:r>
              <a:rPr sz="1275" b="1">
                <a:solidFill>
                  <a:srgbClr val="F4FBFF"/>
                </a:solidFill>
              </a:rPr>
              <a:t>BENICIO · JOSH · BILLY · VERONICA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010DA-936A-406D-89D0-5A06970D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Security, red-team, risk, compliance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6C2EE-3160-4134-9525-7438EB9B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0929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A6FEB1-D8FC-4D82-BBFC-BB54481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THE FIRST 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4B91F-6000-4595-B5AB-759125AC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974F7-7658-4584-883C-7E045645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Start with one painful workflow—not an AI transformation.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8CBD3-C330-4A07-8613-D9EA3B31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A 14-day approval-only sprint creates the first credible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BF5F9-AF2A-4068-8BB1-538413F4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BFF"/>
                </a:solidFill>
              </a:defRPr>
            </a:pPr>
            <a:r>
              <a:rPr sz="2175" b="1">
                <a:solidFill>
                  <a:srgbClr val="F4FBFF"/>
                </a:solidFill>
              </a:rPr>
              <a:t>Example: slow lead follow-up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54DCC-326F-48F0-80C4-126A49A9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A7B7"/>
                </a:solidFill>
              </a:defRPr>
            </a:pPr>
            <a:r>
              <a:rPr sz="1275" b="1">
                <a:solidFill>
                  <a:srgbClr val="8EA7B7"/>
                </a:solidFill>
              </a:rPr>
              <a:t>New inquiry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566BA-E7B4-4E70-9501-459E1814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B7B"/>
                </a:solidFill>
              </a:defRPr>
            </a:pPr>
            <a:r>
              <a:rPr sz="1200" b="0">
                <a:solidFill>
                  <a:srgbClr val="506B7B"/>
                </a:solidFill>
              </a:rPr>
              <a:t>waits in inbox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0CD80-CE70-46CA-AF2B-84964789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A7B7"/>
                </a:solidFill>
              </a:defRPr>
            </a:pPr>
            <a:r>
              <a:rPr sz="1275" b="1">
                <a:solidFill>
                  <a:srgbClr val="8EA7B7"/>
                </a:solidFill>
              </a:rPr>
              <a:t>Owner researches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A1854-C7E2-47B3-BC35-C183DBA1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33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B7B"/>
                </a:solidFill>
              </a:defRPr>
            </a:pPr>
            <a:r>
              <a:rPr sz="1200" b="0">
                <a:solidFill>
                  <a:srgbClr val="506B7B"/>
                </a:solidFill>
              </a:rPr>
              <a:t>between meetings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6B212-0135-4BB1-87AB-D2C4CC26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A7B7"/>
                </a:solidFill>
              </a:defRPr>
            </a:pPr>
            <a:r>
              <a:rPr sz="1275" b="1">
                <a:solidFill>
                  <a:srgbClr val="8EA7B7"/>
                </a:solidFill>
              </a:rPr>
              <a:t>Follow-up drafted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09CBE-08F1-42BC-8433-202DB9D3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24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B7B"/>
                </a:solidFill>
              </a:defRPr>
            </a:pPr>
            <a:r>
              <a:rPr sz="1200" b="0">
                <a:solidFill>
                  <a:srgbClr val="506B7B"/>
                </a:solidFill>
              </a:rPr>
              <a:t>inconsistently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8631A-DFD3-4DC8-A299-311F512E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EA7B7"/>
                </a:solidFill>
              </a:defRPr>
            </a:pPr>
            <a:r>
              <a:rPr sz="1275" b="1">
                <a:solidFill>
                  <a:srgbClr val="8EA7B7"/>
                </a:solidFill>
              </a:rPr>
              <a:t>CRM updated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FA8CA-69C4-4352-9E44-531EB252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14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B7B"/>
                </a:solidFill>
              </a:defRPr>
            </a:pPr>
            <a:r>
              <a:rPr sz="1200" b="0">
                <a:solidFill>
                  <a:srgbClr val="506B7B"/>
                </a:solidFill>
              </a:rPr>
              <a:t>when time allows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D05AC-2D66-4490-893D-851E6C26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338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8E8FF"/>
                </a:solidFill>
              </a:defRPr>
            </a:pPr>
            <a:r>
              <a:rPr sz="3300" b="1">
                <a:solidFill>
                  <a:srgbClr val="38E8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76343-C3B7-44AB-ADF7-124D2358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52959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A202E"/>
          </a:solidFill>
          <a:ln xmlns:a="http://schemas.openxmlformats.org/drawingml/2006/main" w="9525">
            <a:solidFill>
              <a:srgbClr val="38E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F0697-522A-4C12-8D6A-C663951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JARVIS-SUPERVISED 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6C89F-D01D-4F3B-AC91-E9C59DF3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F4FF"/>
                </a:solidFill>
              </a:defRPr>
            </a:pPr>
            <a:r>
              <a:rPr sz="825" b="1">
                <a:solidFill>
                  <a:srgbClr val="9AF4FF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EEBAA-EEC8-473F-AE58-476F6C7B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F"/>
                </a:solidFill>
              </a:defRPr>
            </a:pPr>
            <a:r>
              <a:rPr sz="1275" b="0">
                <a:solidFill>
                  <a:srgbClr val="F4FBFF"/>
                </a:solidFill>
              </a:rPr>
              <a:t>Acknowledge immediately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48D57-BB61-4EAD-9546-6FF863EF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528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F4FF"/>
                </a:solidFill>
              </a:defRPr>
            </a:pPr>
            <a:r>
              <a:rPr sz="825" b="1">
                <a:solidFill>
                  <a:srgbClr val="9AF4FF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82078-51E8-4ADC-9316-75C98AC6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337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F"/>
                </a:solidFill>
              </a:defRPr>
            </a:pPr>
            <a:r>
              <a:rPr sz="1275" b="0">
                <a:solidFill>
                  <a:srgbClr val="F4FBFF"/>
                </a:solidFill>
              </a:rPr>
              <a:t>Qualify and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38755-27FD-43B0-A411-5A9330AB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F4FF"/>
                </a:solidFill>
              </a:defRPr>
            </a:pPr>
            <a:r>
              <a:rPr sz="825" b="1">
                <a:solidFill>
                  <a:srgbClr val="9AF4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36316-7A78-4F6D-B4DC-7C5C3825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624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F"/>
                </a:solidFill>
              </a:defRPr>
            </a:pPr>
            <a:r>
              <a:rPr sz="1275" b="0">
                <a:solidFill>
                  <a:srgbClr val="F4FBFF"/>
                </a:solidFill>
              </a:rPr>
              <a:t>Prepare personalized follow-up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EC3A8-6B61-4E13-BA79-56F9F3E4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100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F4FF"/>
                </a:solidFill>
              </a:defRPr>
            </a:pPr>
            <a:r>
              <a:rPr sz="825" b="1">
                <a:solidFill>
                  <a:srgbClr val="9AF4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A9E0BF-99F2-47FD-A4AB-67FD1C78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910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F"/>
                </a:solidFill>
              </a:defRPr>
            </a:pPr>
            <a:r>
              <a:rPr sz="1275" b="0">
                <a:solidFill>
                  <a:srgbClr val="F4FBFF"/>
                </a:solidFill>
              </a:rPr>
              <a:t>Flag uncertainty and sensitive 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891107-7984-4CD4-81B7-D54053A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F4FF"/>
                </a:solidFill>
              </a:defRPr>
            </a:pPr>
            <a:r>
              <a:rPr sz="825" b="1">
                <a:solidFill>
                  <a:srgbClr val="9AF4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E7AC0-9E0E-4E57-981B-CDABB634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96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BFF"/>
                </a:solidFill>
              </a:defRPr>
            </a:pPr>
            <a:r>
              <a:rPr sz="1275" b="1">
                <a:solidFill>
                  <a:srgbClr val="F4FBFF"/>
                </a:solidFill>
              </a:rPr>
              <a:t>Present exact action for approval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C30F5-68F0-4D25-BD76-089E1739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Target metrics: response time · follow-up completion · booked-call conversion · exceptions · owner hours</a:t>
            </a:r>
          </a:p>
        </p:txBody>
      </p:sp>
    </p:spTree>
    <p:extLst>
      <p:ext uri="{BB962C8B-B14F-4D97-AF65-F5344CB8AC3E}">
        <p14:creationId xmlns:p14="http://schemas.microsoft.com/office/powerpoint/2010/main" val="952873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D29BA9-0CC8-4EFD-82E9-5D6B8BDE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THE PROOF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4AE11-EA42-4AEA-857C-FAEF07B6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165F8-00DA-4D54-A0AB-74957A0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Every pilot creates the evidence required to sell the next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CAA75-5ACD-453B-AD0E-497FBE08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The customer sees measurable work, not a promise of magic.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51B40-7479-4D7A-956A-8E277599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E8FF"/>
                </a:solidFill>
              </a:defRPr>
            </a:pPr>
            <a:r>
              <a:rPr sz="2250" b="1">
                <a:solidFill>
                  <a:srgbClr val="38E8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DCBAB-EB11-444B-BA26-AACC5624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BFF"/>
                </a:solidFill>
              </a:defRPr>
            </a:pPr>
            <a:r>
              <a:rPr sz="1050" b="1">
                <a:solidFill>
                  <a:srgbClr val="F4FBFF"/>
                </a:solidFill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1A9AD-4E22-4FBA-876B-B1A8052E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2305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Measure delay, hours, errors, throughput, or conversion.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D4408-E41A-463F-8097-5FE70717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432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06B7B"/>
                </a:solidFill>
              </a:defRPr>
            </a:pPr>
            <a:r>
              <a:rPr sz="1650" b="1">
                <a:solidFill>
                  <a:srgbClr val="506B7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832D2-6B76-4C51-9E0E-A14B854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E8FF"/>
                </a:solidFill>
              </a:defRPr>
            </a:pPr>
            <a:r>
              <a:rPr sz="2250" b="1">
                <a:solidFill>
                  <a:srgbClr val="38E8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FFE15-353E-4A3B-962C-CB1BD4B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BFF"/>
                </a:solidFill>
              </a:defRPr>
            </a:pPr>
            <a:r>
              <a:rPr sz="1050" b="1">
                <a:solidFill>
                  <a:srgbClr val="F4FBFF"/>
                </a:solidFill>
              </a:rPr>
              <a:t>APPROVAL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28236-C957-41A0-B56E-235A546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95700"/>
            <a:ext cx="2305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Log drafts, corrections, exceptions, and human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AC970-7DB7-4907-AF7C-26051BFE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432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06B7B"/>
                </a:solidFill>
              </a:defRPr>
            </a:pPr>
            <a:r>
              <a:rPr sz="1650" b="1">
                <a:solidFill>
                  <a:srgbClr val="506B7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C93C6-B441-4736-B45C-BBAFA57B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E8FF"/>
                </a:solidFill>
              </a:defRPr>
            </a:pPr>
            <a:r>
              <a:rPr sz="2250" b="1">
                <a:solidFill>
                  <a:srgbClr val="38E8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B4DD6-036B-41F8-9D79-E8217A1A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BFF"/>
                </a:solidFill>
              </a:defRPr>
            </a:pPr>
            <a:r>
              <a:rPr sz="1050" b="1">
                <a:solidFill>
                  <a:srgbClr val="F4FBFF"/>
                </a:solidFill>
              </a:rPr>
              <a:t>VERIFIED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CBD98-89FC-44ED-8AAA-15EFE385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95700"/>
            <a:ext cx="2305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Publish only authentic, authorized outcomes.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B3F98-3AD3-4B31-B0DA-7198942B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432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06B7B"/>
                </a:solidFill>
              </a:defRPr>
            </a:pPr>
            <a:r>
              <a:rPr sz="1650" b="1">
                <a:solidFill>
                  <a:srgbClr val="506B7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E61D0-D2E6-4762-BCF3-B1367BBC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E8FF"/>
                </a:solidFill>
              </a:defRPr>
            </a:pPr>
            <a:r>
              <a:rPr sz="2250" b="1">
                <a:solidFill>
                  <a:srgbClr val="38E8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C2056-D39A-4334-A5AA-1519F36F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BFF"/>
                </a:solidFill>
              </a:defRPr>
            </a:pPr>
            <a:r>
              <a:rPr sz="1050" b="1">
                <a:solidFill>
                  <a:srgbClr val="F4FBFF"/>
                </a:solidFill>
              </a:rPr>
              <a:t>REUSE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74D12-AFFB-488B-9AA8-37579084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95700"/>
            <a:ext cx="2305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Turn the result into a demo, case study, email, and vertical page.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93489-D7EE-4846-8F79-91CB988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706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2734"/>
          </a:solidFill>
          <a:ln xmlns:a="http://schemas.openxmlformats.org/drawingml/2006/main" w="9525">
            <a:solidFill>
              <a:srgbClr val="1C44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7F868-F093-448C-BBAF-DBA95A55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E8FF"/>
                </a:solidFill>
              </a:defRPr>
            </a:pPr>
            <a:r>
              <a:rPr sz="1275" b="1">
                <a:solidFill>
                  <a:srgbClr val="38E8FF"/>
                </a:solidFill>
              </a:rPr>
              <a:t>Creator-style challenge: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44A49-6C06-49B9-A21B-0FA19CFD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Can Jarvis recover 20 owner-hours in 14 days without sending one unapproved message?</a:t>
            </a:r>
          </a:p>
        </p:txBody>
      </p:sp>
    </p:spTree>
    <p:extLst>
      <p:ext uri="{BB962C8B-B14F-4D97-AF65-F5344CB8AC3E}">
        <p14:creationId xmlns:p14="http://schemas.microsoft.com/office/powerpoint/2010/main" val="1699418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19872-56E5-4497-B4DC-C893BEF2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29C49-24D6-4B50-91EC-29EA5544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AF29C-1142-4689-ADA2-C4FC704A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Win one workflow in one vertical, then clone the playbook.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3441D-AF29-4509-933D-2B076BFA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The strongest first buyers have expensive leads and obvious follow-up or admin bottlenecks.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0C82-6C2E-41ED-98DB-CD90C510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E8FF"/>
                </a:solidFill>
              </a:defRPr>
            </a:pPr>
            <a:r>
              <a:rPr sz="900" b="1">
                <a:solidFill>
                  <a:srgbClr val="38E8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75A3B-81A5-4BD3-85C7-C93067FC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BFF"/>
                </a:solidFill>
              </a:defRPr>
            </a:pPr>
            <a:r>
              <a:rPr sz="1725" b="1">
                <a:solidFill>
                  <a:srgbClr val="F4FBFF"/>
                </a:solidFill>
              </a:rPr>
              <a:t>Marketing + web agencies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B9D05-07E5-446F-BD77-AD2B95B5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76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Research, outreach preparation, follow-up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160E7-ADDE-435D-9B2B-92A7C2AA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201EC-5750-4B5A-A611-76F00B8B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E8FF"/>
                </a:solidFill>
              </a:defRPr>
            </a:pPr>
            <a:r>
              <a:rPr sz="900" b="1">
                <a:solidFill>
                  <a:srgbClr val="38E8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D5D3A-15CF-4EB3-88F3-3B67E88A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BFF"/>
                </a:solidFill>
              </a:defRPr>
            </a:pPr>
            <a:r>
              <a:rPr sz="1725" b="1">
                <a:solidFill>
                  <a:srgbClr val="F4FBFF"/>
                </a:solidFill>
              </a:rPr>
              <a:t>Commercial contractors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9B5D1-B732-429B-8846-04231CF7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57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Lead qualification, estimate follow-up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595F9-EB15-4E83-9FA0-9CC8C27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3F465-3C6F-4D0B-BA14-783BE321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E8FF"/>
                </a:solidFill>
              </a:defRPr>
            </a:pPr>
            <a:r>
              <a:rPr sz="900" b="1">
                <a:solidFill>
                  <a:srgbClr val="38E8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DC5CE-AB73-4FB7-B5A8-7F3DE28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BFF"/>
                </a:solidFill>
              </a:defRPr>
            </a:pPr>
            <a:r>
              <a:rPr sz="1725" b="1">
                <a:solidFill>
                  <a:srgbClr val="F4FBFF"/>
                </a:solidFill>
              </a:rPr>
              <a:t>Recruiting firms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6C17C-4083-495D-A247-11EFAC34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386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Candidate research, summaries, outreach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E48F7-2758-4722-BCC8-AB40B034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58E2E-570D-4FC0-9CE3-4988A700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E8FF"/>
                </a:solidFill>
              </a:defRPr>
            </a:pPr>
            <a:r>
              <a:rPr sz="900" b="1">
                <a:solidFill>
                  <a:srgbClr val="38E8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F85CE-0205-41C0-9BE8-885DC5A3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BFF"/>
                </a:solidFill>
              </a:defRPr>
            </a:pPr>
            <a:r>
              <a:rPr sz="1725" b="1">
                <a:solidFill>
                  <a:srgbClr val="F4FBFF"/>
                </a:solidFill>
              </a:rPr>
              <a:t>Consultants + accountants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F4AD1-1ECB-4CB4-9936-40434AD3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96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Intake, document collection, client updates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06C91-2480-419C-8781-83BD62B6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57296-8C51-4BB4-9D80-B027AEAD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F4FF"/>
                </a:solidFill>
              </a:defRPr>
            </a:pPr>
            <a:r>
              <a:rPr sz="1125" b="1">
                <a:solidFill>
                  <a:srgbClr val="9AF4FF"/>
                </a:solidFill>
              </a:rPr>
              <a:t>Qualification: 5–50 employees · $2K+ offer value · repeatable work · owner can approve a pilot quickly</a:t>
            </a:r>
          </a:p>
        </p:txBody>
      </p:sp>
    </p:spTree>
    <p:extLst>
      <p:ext uri="{BB962C8B-B14F-4D97-AF65-F5344CB8AC3E}">
        <p14:creationId xmlns:p14="http://schemas.microsoft.com/office/powerpoint/2010/main" val="2126416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67483-6A9E-4CF3-A0DB-1D8764DE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THE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690E9-D591-4CA7-9B09-23F60A8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81D89-551E-486B-83E1-75D4A88B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A low-risk entry creates the path to recurring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A9C1A-F177-43E6-BA7E-2FB8E0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Launch pricing is testable; value and scope determine standard pricing.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2F346-4EC7-47DD-BA9C-94BD1355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DFFBC"/>
                </a:solidFill>
              </a:defRPr>
            </a:pPr>
            <a:r>
              <a:rPr sz="2850" b="1">
                <a:solidFill>
                  <a:srgbClr val="8DFFBC"/>
                </a:solidFill>
              </a:rPr>
              <a:t>$299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31EB9-C130-4887-9A01-450F7488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Founding Blueprint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BA18B-278B-49C3-AD3A-67A9F3E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324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Top opportunities, workflow map, agent roster, 30-day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85198-CB1D-45A4-AAB3-96DFA340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FF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AE9A0-6F90-4617-95B5-F3726CA6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8E8FF"/>
                </a:solidFill>
              </a:defRPr>
            </a:pPr>
            <a:r>
              <a:rPr sz="2850" b="1">
                <a:solidFill>
                  <a:srgbClr val="38E8FF"/>
                </a:solidFill>
              </a:rPr>
              <a:t>$1.5K+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1BC2C-CD26-4C1B-B5BA-0662B97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718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Proof Sprint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70829-DF57-4EBF-AAB7-B0A74528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48100"/>
            <a:ext cx="2324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One supervised workflow, baseline, integration, before/after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D23D3-98EC-404B-A4A7-5553228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435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EF6E6-E3DF-4926-952D-922997F2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8E8FF"/>
                </a:solidFill>
              </a:defRPr>
            </a:pPr>
            <a:r>
              <a:rPr sz="2850" b="1">
                <a:solidFill>
                  <a:srgbClr val="38E8FF"/>
                </a:solidFill>
              </a:rPr>
              <a:t>$2.5K+/mo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F03A7-9957-43F2-9F94-E87CE7ED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Managed Workforce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8FE41-A49C-4DA3-8FF5-93B64E01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2324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Up to three workflows, monitoring, optimization,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CB2F7-F7B2-40E1-A645-4D9E0289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435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AFC33-6AEA-4836-88C7-2097D8E2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289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8E8FF"/>
                </a:solidFill>
              </a:defRPr>
            </a:pPr>
            <a:r>
              <a:rPr sz="2850" b="1">
                <a:solidFill>
                  <a:srgbClr val="38E8FF"/>
                </a:solidFill>
              </a:rPr>
              <a:t>$5K+/mo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29038-9B13-4CB8-B3E3-A87E9C6D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718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Growth Command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E3628-6766-49BC-B389-3A195708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48100"/>
            <a:ext cx="2324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7B7"/>
                </a:solidFill>
              </a:defRPr>
            </a:pPr>
            <a:r>
              <a:rPr sz="1200" b="0">
                <a:solidFill>
                  <a:srgbClr val="8EA7B7"/>
                </a:solidFill>
              </a:rPr>
              <a:t>Expanded workflows, weekly strategy, priority 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A2768-7378-491E-BF2E-55B64209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1435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A4C18-B314-4D77-A0C0-6BD01D41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BFF"/>
                </a:solidFill>
              </a:defRPr>
            </a:pPr>
            <a:r>
              <a:rPr sz="1875" b="1">
                <a:solidFill>
                  <a:srgbClr val="F4FBFF"/>
                </a:solidFill>
              </a:rPr>
              <a:t>Blueprint  →  Sprint  →  Subscription  →  Expansion  →  Referral</a:t>
            </a:r>
          </a:p>
        </p:txBody>
      </p:sp>
    </p:spTree>
    <p:extLst>
      <p:ext uri="{BB962C8B-B14F-4D97-AF65-F5344CB8AC3E}">
        <p14:creationId xmlns:p14="http://schemas.microsoft.com/office/powerpoint/2010/main" val="872383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6FA50-FDE1-4F6A-96B7-AD9519C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ILLUSTRATIVE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A5F33-F98F-4539-9D2B-7A44031C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DFC2E-29DE-4D31-BD2A-E9C53E1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Recurring revenue can scale—after retention and delivery costs are proven.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FCD3D-3ED9-4916-B579-204BF01E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Planning scenarios, not forecasts. Gross profit excludes founder labor and overhead.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43f0fa44b747e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3150B-281A-47CB-A4D7-4823A8BF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90800"/>
            <a:ext cx="34290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A202E"/>
          </a:solidFill>
          <a:ln xmlns:a="http://schemas.openxmlformats.org/drawingml/2006/main" w="9525">
            <a:solidFill>
              <a:srgbClr val="1C44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81346-E6A3-40F7-88EC-6649040F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MODEL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97F06-0F07-4CFA-AEAD-0C5A1408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E8FF"/>
                </a:solidFill>
              </a:defRPr>
            </a:pPr>
            <a:r>
              <a:rPr sz="1200" b="1">
                <a:solidFill>
                  <a:srgbClr val="38E8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470F2-A4CB-4C16-8580-540CF8DB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F"/>
                </a:solidFill>
              </a:defRPr>
            </a:pPr>
            <a:r>
              <a:rPr sz="1200" b="0">
                <a:solidFill>
                  <a:srgbClr val="F4FBFF"/>
                </a:solidFill>
              </a:rPr>
              <a:t>$2,500 monthly subscription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38D42-AB6D-45A6-95F6-3CB6E462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E8FF"/>
                </a:solidFill>
              </a:defRPr>
            </a:pPr>
            <a:r>
              <a:rPr sz="1200" b="1">
                <a:solidFill>
                  <a:srgbClr val="38E8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CC18D-6C11-4707-9840-1BFA96EA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F"/>
                </a:solidFill>
              </a:defRPr>
            </a:pPr>
            <a:r>
              <a:rPr sz="1200" b="0">
                <a:solidFill>
                  <a:srgbClr val="F4FBFF"/>
                </a:solidFill>
              </a:rPr>
              <a:t>$1,500 new proof sprint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5F81F-763E-403D-A069-72A40AF2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E8FF"/>
                </a:solidFill>
              </a:defRPr>
            </a:pPr>
            <a:r>
              <a:rPr sz="1200" b="1">
                <a:solidFill>
                  <a:srgbClr val="38E8F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40B0F-E118-4B94-93E3-2055F8E9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F"/>
                </a:solidFill>
              </a:defRPr>
            </a:pPr>
            <a:r>
              <a:rPr sz="1200" b="0">
                <a:solidFill>
                  <a:srgbClr val="F4FBFF"/>
                </a:solidFill>
              </a:rPr>
              <a:t>20% variable software +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9B5DC-7D3A-4414-BE96-C3E25719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E8FF"/>
                </a:solidFill>
              </a:defRPr>
            </a:pPr>
            <a:r>
              <a:rPr sz="1200" b="1">
                <a:solidFill>
                  <a:srgbClr val="38E8FF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42B22-7C4E-4DE7-9A37-BE1096C3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91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F"/>
                </a:solidFill>
              </a:defRPr>
            </a:pPr>
            <a:r>
              <a:rPr sz="1200" b="0">
                <a:solidFill>
                  <a:srgbClr val="F4FBFF"/>
                </a:solidFill>
              </a:rPr>
              <a:t>4% monthly churn once established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9FD52-72F0-4E50-AB56-F3862EE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E8FF"/>
                </a:solidFill>
              </a:defRPr>
            </a:pPr>
            <a:r>
              <a:rPr sz="1200" b="1">
                <a:solidFill>
                  <a:srgbClr val="38E8F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231D9-BCD9-480D-9A1D-788DF0A2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BFF"/>
                </a:solidFill>
              </a:defRPr>
            </a:pPr>
            <a:r>
              <a:rPr sz="1200" b="0">
                <a:solidFill>
                  <a:srgbClr val="F4FBFF"/>
                </a:solidFill>
              </a:rPr>
              <a:t>Excludes founder labor + overhead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DA4FA-D688-47B4-930F-C26F25B6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EA7B7"/>
                </a:solidFill>
              </a:defRPr>
            </a:pPr>
            <a:r>
              <a:rPr sz="975" b="0">
                <a:solidFill>
                  <a:srgbClr val="8EA7B7"/>
                </a:solidFill>
              </a:rPr>
              <a:t>Real conversion, acquisition cost, delivery time, retention, refunds, and support must replace assumptions before investment claims.</a:t>
            </a:r>
          </a:p>
        </p:txBody>
      </p:sp>
    </p:spTree>
    <p:extLst>
      <p:ext uri="{BB962C8B-B14F-4D97-AF65-F5344CB8AC3E}">
        <p14:creationId xmlns:p14="http://schemas.microsoft.com/office/powerpoint/2010/main" val="495403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280A8-4482-4BF9-BF32-B9A9DBE1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GOVERNED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87F21-52CC-4982-AB49-A45DEBEF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F788F-9C1C-4BA0-950E-56044B1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Trust is a product feature—not a legal footnote.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01F27-0287-4246-80B4-D91B48B8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The system is designed to help teams scale repetitive work while people retain judgment and authority.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E5A89-F243-4374-9897-629E39C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76C52-BD10-454E-8162-72D3DBF4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</a:defRPr>
            </a:pPr>
            <a:r>
              <a:rPr sz="1200" b="1">
                <a:solidFill>
                  <a:srgbClr val="F4FBFF"/>
                </a:solidFill>
              </a:rPr>
              <a:t>LEAST PRIVILEGE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5EA62-9FAC-4F51-941A-42201EF6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43150"/>
            <a:ext cx="706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Minimum necessary access for each authorized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7BCE3-038A-4320-894C-23C4EAA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0924C-348F-42BF-A5DC-B81C3F3A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12229-DD16-469A-9F0E-BBF137A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</a:defRPr>
            </a:pPr>
            <a:r>
              <a:rPr sz="1200" b="1">
                <a:solidFill>
                  <a:srgbClr val="F4FBFF"/>
                </a:solidFill>
              </a:rPr>
              <a:t>HUMAN APPROVAL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CE897-E442-4FB9-82C8-9454F317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28950"/>
            <a:ext cx="706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External communication, publishing, payments, and consequential changes wait.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BBA40-372C-4397-8932-8112CC40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74FAD-ED0A-4979-B9E2-411216E1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419E6-5E9C-41EB-86A2-7463A286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</a:defRPr>
            </a:pPr>
            <a:r>
              <a:rPr sz="1200" b="1">
                <a:solidFill>
                  <a:srgbClr val="F4FBFF"/>
                </a:solidFill>
              </a:rPr>
              <a:t>QUALITY + RED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94930-FBCD-4961-A8F9-2D27DF73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14750"/>
            <a:ext cx="706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Sensitive outputs receive factual, security, and adversarial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F948A-CBBF-46EF-BFE7-29A1385F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77015-2D62-4493-841D-7C16F5EF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A2D52-7DC8-4843-992B-AC55F9E6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</a:defRPr>
            </a:pPr>
            <a:r>
              <a:rPr sz="1200" b="1">
                <a:solidFill>
                  <a:srgbClr val="F4FBFF"/>
                </a:solidFill>
              </a:rPr>
              <a:t>ESCALATION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4AFF0-F693-424F-B377-0201B193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00550"/>
            <a:ext cx="706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Low confidence, conflict, privacy, and policy issues route to a named owner.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69B4A-CA30-456D-AEB6-32CF0D1D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5FDCF-6278-440A-BFE1-8E58D05F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C7F14-24A3-4EA7-935A-A9D34A33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</a:defRPr>
            </a:pPr>
            <a:r>
              <a:rPr sz="1200" b="1">
                <a:solidFill>
                  <a:srgbClr val="F4FBFF"/>
                </a:solidFill>
              </a:rPr>
              <a:t>MEASUREMENT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404DA-39F8-451E-A7F2-B0277801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86350"/>
            <a:ext cx="706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Time, throughput, quality, cost, conversion, reliability, and renewal intent.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C4253-C040-457C-91F7-A2217DA7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888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41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EB0A2-23FB-4DB0-B5BF-AE22CE97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THE LAUNCH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4155-7508-42F3-B90C-73BAD0BF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06B7B"/>
                </a:solidFill>
              </a:defRPr>
            </a:pPr>
            <a:r>
              <a:rPr sz="825" b="1">
                <a:solidFill>
                  <a:srgbClr val="506B7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EB1B-82CA-464C-996B-D7CB1705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BFF"/>
                </a:solidFill>
              </a:defRPr>
            </a:pPr>
            <a:r>
              <a:rPr sz="3150" b="1">
                <a:solidFill>
                  <a:srgbClr val="F4FBFF"/>
                </a:solidFill>
              </a:rPr>
              <a:t>Thirty days to the first verified, repeatable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73730-D0D0-4711-87EB-4A3B04BF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7B7"/>
                </a:solidFill>
              </a:defRPr>
            </a:pPr>
            <a:r>
              <a:rPr sz="1350" b="0">
                <a:solidFill>
                  <a:srgbClr val="8EA7B7"/>
                </a:solidFill>
              </a:rPr>
              <a:t>Jarvis remains the single point of coordination and final AI review throughout.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208E6-8361-436C-BFCA-BD20C968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DAYS 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C6821-9C59-4376-BF7E-D1BB03B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</a:defRPr>
            </a:pPr>
            <a:r>
              <a:rPr sz="2250" b="1">
                <a:solidFill>
                  <a:srgbClr val="F4FBFF"/>
                </a:solidFill>
              </a:rPr>
              <a:t>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A6575-F6BC-418C-A4DC-FCFCE1A2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333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Choose the brand, one vertical, one workflow, and one working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3AC5A-3EF8-4ADA-AB6A-C69BDB8B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0F627-3405-409F-9747-929127DE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14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DAYS 4–10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ABB7B-18E7-49C5-A19B-6F10FFA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52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</a:defRPr>
            </a:pPr>
            <a:r>
              <a:rPr sz="2250" b="1">
                <a:solidFill>
                  <a:srgbClr val="F4FBFF"/>
                </a:solidFill>
              </a:rPr>
              <a:t>Sell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EDB78-2B46-4328-BD1D-F55434C6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43300"/>
            <a:ext cx="2333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Contact 30 matched businesses daily and offer five founding proof sprints.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26F3F-92C7-44B0-86B4-4A6ED2AA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673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BEA88-8C28-4525-BCCF-C87AC6D3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DAYS 11–20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C531D-5290-4309-B7AC-E5255A1F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</a:defRPr>
            </a:pPr>
            <a:r>
              <a:rPr sz="2250" b="1">
                <a:solidFill>
                  <a:srgbClr val="F4FBFF"/>
                </a:solidFill>
              </a:rPr>
              <a:t>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38A4C-7885-4D39-8E98-37CC9477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2333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Run pilots in approval-only mode; record baselines, exceptions, and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FE21-3D71-4387-9B20-F0AF2C3A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234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182DE-D98C-44F0-B0BB-83AE1630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14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DAYS 21–30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3F732-09B4-4417-AF3C-9FA9CD4B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52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</a:defRPr>
            </a:pPr>
            <a:r>
              <a:rPr sz="2250" b="1">
                <a:solidFill>
                  <a:srgbClr val="F4FBFF"/>
                </a:solidFill>
              </a:rPr>
              <a:t>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F6111-DAB0-4AD9-9B44-1421B679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2333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EA7B7"/>
                </a:solidFill>
              </a:defRPr>
            </a:pPr>
            <a:r>
              <a:rPr sz="1275" b="0">
                <a:solidFill>
                  <a:srgbClr val="8EA7B7"/>
                </a:solidFill>
              </a:rPr>
              <a:t>Release the verified case study and sell the next cohort at standard pricing.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50708-D402-4C56-A806-88E6D9E9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067300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FF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5CAD2-6D24-4207-B660-AEB18AAA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2734"/>
          </a:solidFill>
          <a:ln xmlns:a="http://schemas.openxmlformats.org/drawingml/2006/main" w="9525">
            <a:solidFill>
              <a:srgbClr val="38E8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EE740-52E5-40ED-8C7A-F2D33E70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E8FF"/>
                </a:solidFill>
              </a:defRPr>
            </a:pPr>
            <a:r>
              <a:rPr sz="825" b="1">
                <a:solidFill>
                  <a:srgbClr val="38E8FF"/>
                </a:solidFill>
              </a:rPr>
              <a:t>NEXT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AC5FCD-025D-4CC2-88A6-A28E20DA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38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BFF"/>
                </a:solidFill>
              </a:defRPr>
            </a:pPr>
            <a:r>
              <a:rPr sz="1500" b="1">
                <a:solidFill>
                  <a:srgbClr val="F4FBFF"/>
                </a:solidFill>
              </a:rPr>
              <a:t>Approve one vertical + one founding workflow, then let Jarvis coordinate the mission.</a:t>
            </a:r>
          </a:p>
        </p:txBody>
      </p:sp>
    </p:spTree>
    <p:extLst>
      <p:ext uri="{BB962C8B-B14F-4D97-AF65-F5344CB8AC3E}">
        <p14:creationId xmlns:p14="http://schemas.microsoft.com/office/powerpoint/2010/main" val="2073562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2026-07-30T19:57:06.3270000Z</dcterms:created>
  <dcterms:modified xsi:type="dcterms:W3CDTF">2026-07-30T19:57:06.3270000Z</dcterms:modified>
</coreProperties>
</file>