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388a6b12a414c53" /><Relationship Type="http://schemas.openxmlformats.org/officeDocument/2006/relationships/extended-properties" Target="/docProps/app.xml" Id="R382e1917a6414cd5" /><Relationship Type="http://schemas.openxmlformats.org/officeDocument/2006/relationships/officeDocument" Target="/ppt/presentation.xml" Id="R78d14a1d51c74b4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db7684a7db04f7a"/>
  </p:sldMasterIdLst>
  <p:notesMasterIdLst>
    <p:notesMasterId xmlns:r="http://schemas.openxmlformats.org/officeDocument/2006/relationships" r:id="Rfe7fd35b4e214d0c"/>
  </p:notesMasterIdLst>
  <p:sldIdLst>
    <p:sldId xmlns:r="http://schemas.openxmlformats.org/officeDocument/2006/relationships" id="256" r:id="R788f1a10e4ed4d6e"/>
    <p:sldId xmlns:r="http://schemas.openxmlformats.org/officeDocument/2006/relationships" id="257" r:id="R68690808fb9f4986"/>
    <p:sldId xmlns:r="http://schemas.openxmlformats.org/officeDocument/2006/relationships" id="258" r:id="R5bc0ce3c9b654359"/>
    <p:sldId xmlns:r="http://schemas.openxmlformats.org/officeDocument/2006/relationships" id="259" r:id="R91f4979c92094986"/>
    <p:sldId xmlns:r="http://schemas.openxmlformats.org/officeDocument/2006/relationships" id="260" r:id="R07b9b38859ef4eb1"/>
    <p:sldId xmlns:r="http://schemas.openxmlformats.org/officeDocument/2006/relationships" id="261" r:id="R4d3382c863ca4893"/>
    <p:sldId xmlns:r="http://schemas.openxmlformats.org/officeDocument/2006/relationships" id="262" r:id="Rd2035cb63d3a46d3"/>
    <p:sldId xmlns:r="http://schemas.openxmlformats.org/officeDocument/2006/relationships" id="263" r:id="R96066a817572407d"/>
    <p:sldId xmlns:r="http://schemas.openxmlformats.org/officeDocument/2006/relationships" id="264" r:id="Rbb475acbedf04f66"/>
    <p:sldId xmlns:r="http://schemas.openxmlformats.org/officeDocument/2006/relationships" id="265" r:id="R2107403d7e724638"/>
    <p:sldId xmlns:r="http://schemas.openxmlformats.org/officeDocument/2006/relationships" id="266" r:id="R6185013daa0c44d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ae3bb2f494d4d72" /><Relationship Type="http://schemas.openxmlformats.org/officeDocument/2006/relationships/slideMaster" Target="/ppt/slideMasters/slideMaster1.xml" Id="R4db7684a7db04f7a" /><Relationship Type="http://schemas.openxmlformats.org/officeDocument/2006/relationships/notesMaster" Target="/ppt/notesMasters/notesMaster1.xml" Id="Rfe7fd35b4e214d0c" /><Relationship Type="http://schemas.openxmlformats.org/officeDocument/2006/relationships/presProps" Target="/ppt/presProps.xml" Id="R5265e671ba264add" /><Relationship Type="http://schemas.openxmlformats.org/officeDocument/2006/relationships/tableStyles" Target="/ppt/tableStyles.xml" Id="Rec59ad5daf594dfd" /><Relationship Type="http://schemas.openxmlformats.org/officeDocument/2006/relationships/slide" Target="/ppt/slides/slide1.xml" Id="R788f1a10e4ed4d6e" /><Relationship Type="http://schemas.openxmlformats.org/officeDocument/2006/relationships/slide" Target="/ppt/slides/slide2.xml" Id="R68690808fb9f4986" /><Relationship Type="http://schemas.openxmlformats.org/officeDocument/2006/relationships/slide" Target="/ppt/slides/slide3.xml" Id="R5bc0ce3c9b654359" /><Relationship Type="http://schemas.openxmlformats.org/officeDocument/2006/relationships/slide" Target="/ppt/slides/slide4.xml" Id="R91f4979c92094986" /><Relationship Type="http://schemas.openxmlformats.org/officeDocument/2006/relationships/slide" Target="/ppt/slides/slide5.xml" Id="R07b9b38859ef4eb1" /><Relationship Type="http://schemas.openxmlformats.org/officeDocument/2006/relationships/slide" Target="/ppt/slides/slide6.xml" Id="R4d3382c863ca4893" /><Relationship Type="http://schemas.openxmlformats.org/officeDocument/2006/relationships/slide" Target="/ppt/slides/slide7.xml" Id="Rd2035cb63d3a46d3" /><Relationship Type="http://schemas.openxmlformats.org/officeDocument/2006/relationships/slide" Target="/ppt/slides/slide8.xml" Id="R96066a817572407d" /><Relationship Type="http://schemas.openxmlformats.org/officeDocument/2006/relationships/slide" Target="/ppt/slides/slide9.xml" Id="Rbb475acbedf04f66" /><Relationship Type="http://schemas.openxmlformats.org/officeDocument/2006/relationships/slide" Target="/ppt/slides/slide10.xml" Id="R2107403d7e724638" /><Relationship Type="http://schemas.openxmlformats.org/officeDocument/2006/relationships/slide" Target="/ppt/slides/slide11.xml" Id="R6185013daa0c44d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2c458e82166426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7c42e6feab64f4e" /><Relationship Type="http://schemas.openxmlformats.org/officeDocument/2006/relationships/notesMaster" Target="/ppt/notesMasters/notesMaster1.xml" Id="R53d458f83b6d442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3201a1903b848a7" /><Relationship Type="http://schemas.openxmlformats.org/officeDocument/2006/relationships/notesMaster" Target="/ppt/notesMasters/notesMaster1.xml" Id="R036f2b327129465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a590cd2f921487a" /><Relationship Type="http://schemas.openxmlformats.org/officeDocument/2006/relationships/notesMaster" Target="/ppt/notesMasters/notesMaster1.xml" Id="R79a7054fa2bf464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c0b833bfd3847c0" /><Relationship Type="http://schemas.openxmlformats.org/officeDocument/2006/relationships/notesMaster" Target="/ppt/notesMasters/notesMaster1.xml" Id="R7d4d4bdaf503407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205927e1e9b4a6f" /><Relationship Type="http://schemas.openxmlformats.org/officeDocument/2006/relationships/notesMaster" Target="/ppt/notesMasters/notesMaster1.xml" Id="Rc5d4bda9cd6f413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6e20c692ab1499a" /><Relationship Type="http://schemas.openxmlformats.org/officeDocument/2006/relationships/notesMaster" Target="/ppt/notesMasters/notesMaster1.xml" Id="R2de6cbc65ebb4ee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ba276ff5ba0429c" /><Relationship Type="http://schemas.openxmlformats.org/officeDocument/2006/relationships/notesMaster" Target="/ppt/notesMasters/notesMaster1.xml" Id="Ra05efbfe51f84d9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f22d77e70524db1" /><Relationship Type="http://schemas.openxmlformats.org/officeDocument/2006/relationships/notesMaster" Target="/ppt/notesMasters/notesMaster1.xml" Id="R6aa48a4152414bc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0a90a413d1e40f2" /><Relationship Type="http://schemas.openxmlformats.org/officeDocument/2006/relationships/notesMaster" Target="/ppt/notesMasters/notesMaster1.xml" Id="R2aa3d44f394e480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0d7b35fc7714141" /><Relationship Type="http://schemas.openxmlformats.org/officeDocument/2006/relationships/notesMaster" Target="/ppt/notesMasters/notesMaster1.xml" Id="Rf44661fad3094a6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e5f33727e924294" /><Relationship Type="http://schemas.openxmlformats.org/officeDocument/2006/relationships/notesMaster" Target="/ppt/notesMasters/notesMaster1.xml" Id="R19ff732d7c01459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Opening: Jarvis Workforce HQ begins with one supervised workflow and preserves human approval.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 external numerical claims. Buyer-facing workflow statements describe intended product outcomes to validate in a pilot.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 claimed customer results. All pilot outcomes must be measured and approved before reuse.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Pricing aligned with the Jarvis Workforce HQ website on 2026-07-30: https://darnleyweekes-spec.github.io/jarvis-workforce-hq/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Scorecard measures are proposed evaluation criteria, not claimed customer outcomes.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Timeline is an illustrative implementation sequence; final scope depends on workflow access, risk, and approvals.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be4339773c41c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9604da6c9df4c2f" /><Relationship Type="http://schemas.openxmlformats.org/officeDocument/2006/relationships/slideLayout" Target="/ppt/slideLayouts/slideLayout1.xml" Id="Rf2e5472bbefa4b0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2e5472bbefa4b0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d3e6a5b4074f07" /><Relationship Type="http://schemas.openxmlformats.org/officeDocument/2006/relationships/image" Target="/ppt/media/image.png" Id="Re42fb667e02345fe" /><Relationship Type="http://schemas.openxmlformats.org/officeDocument/2006/relationships/notesSlide" Target="/ppt/notesSlides/notesSlide1.xml" Id="Rc947f69ddae3486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091e63fd76452e" /><Relationship Type="http://schemas.openxmlformats.org/officeDocument/2006/relationships/notesSlide" Target="/ppt/notesSlides/notesSlide2.xml" Id="R2c939c7fb967412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5c345f310d4ce0" /><Relationship Type="http://schemas.openxmlformats.org/officeDocument/2006/relationships/notesSlide" Target="/ppt/notesSlides/notesSlide3.xml" Id="R5cefe9f5035d4df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fc5d7c400f44f7" /><Relationship Type="http://schemas.openxmlformats.org/officeDocument/2006/relationships/notesSlide" Target="/ppt/notesSlides/notesSlide4.xml" Id="R6b5e5a49b67347f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6fc4e8b5e7491e" /><Relationship Type="http://schemas.openxmlformats.org/officeDocument/2006/relationships/notesSlide" Target="/ppt/notesSlides/notesSlide5.xml" Id="R04de93804ed4493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f320eae2dd47ff" /><Relationship Type="http://schemas.openxmlformats.org/officeDocument/2006/relationships/notesSlide" Target="/ppt/notesSlides/notesSlide6.xml" Id="R21b714c0781a44e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c2f0d26cbd420c" /><Relationship Type="http://schemas.openxmlformats.org/officeDocument/2006/relationships/notesSlide" Target="/ppt/notesSlides/notesSlide7.xml" Id="Rf08396c913fb420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4128cbcf0642c0" /><Relationship Type="http://schemas.openxmlformats.org/officeDocument/2006/relationships/notesSlide" Target="/ppt/notesSlides/notesSlide8.xml" Id="Ra491602c07f9416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4ccb59eb82400f" /><Relationship Type="http://schemas.openxmlformats.org/officeDocument/2006/relationships/chart" Target="/ppt/slides/charts/chart1.xml" Id="Rabf2c29c469d4a63" /><Relationship Type="http://schemas.openxmlformats.org/officeDocument/2006/relationships/notesSlide" Target="/ppt/notesSlides/notesSlide9.xml" Id="R732a52bd9346416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472c5397ef4c7a" /><Relationship Type="http://schemas.openxmlformats.org/officeDocument/2006/relationships/notesSlide" Target="/ppt/notesSlides/notesSlide10.xml" Id="R4bd28cdc60d74e2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e46ce4e96a4696" /><Relationship Type="http://schemas.openxmlformats.org/officeDocument/2006/relationships/notesSlide" Target="/ppt/notesSlides/notesSlide11.xml" Id="Rb9fab9ecccc546b8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Baseline index</c:v>
          </c:tx>
          <c:spPr>
            <a:solidFill xmlns:a="http://schemas.openxmlformats.org/drawingml/2006/main">
              <a:srgbClr val="38E8FF"/>
            </a:solidFill>
          </c:spPr>
          <c:cat>
            <c:strLit>
              <c:ptCount val="3"/>
              <c:pt idx="0">
                <c:v>Response time</c:v>
              </c:pt>
              <c:pt idx="1">
                <c:v>Completion</c:v>
              </c:pt>
              <c:pt idx="2">
                <c:v>Admin effort</c:v>
              </c:pt>
            </c:strLit>
          </c:cat>
          <c:val>
            <c:numLit>
              <c:formatCode>General</c:formatCode>
              <c:ptCount val="3"/>
              <c:pt idx="0">
                <c:v>100</c:v>
              </c:pt>
              <c:pt idx="1">
                <c:v>75</c:v>
              </c:pt>
              <c:pt idx="2">
                <c:v>100</c:v>
              </c:pt>
            </c:numLit>
          </c:val>
        </c:ser>
        <c:ser>
          <c:idx val="1"/>
          <c:order val="1"/>
          <c:tx>
            <c:v>Illustrative pilot target</c:v>
          </c:tx>
          <c:spPr>
            <a:solidFill xmlns:a="http://schemas.openxmlformats.org/drawingml/2006/main">
              <a:srgbClr val="8DFFBC"/>
            </a:solidFill>
          </c:spPr>
          <c:cat>
            <c:strLit>
              <c:ptCount val="3"/>
              <c:pt idx="0">
                <c:v>Response time</c:v>
              </c:pt>
              <c:pt idx="1">
                <c:v>Completion</c:v>
              </c:pt>
              <c:pt idx="2">
                <c:v>Admin effort</c:v>
              </c:pt>
            </c:strLit>
          </c:cat>
          <c:val>
            <c:numLit>
              <c:formatCode>General</c:formatCode>
              <c:ptCount val="3"/>
              <c:pt idx="0">
                <c:v>60</c:v>
              </c:pt>
              <c:pt idx="1">
                <c:v>95</c:v>
              </c:pt>
              <c:pt idx="2">
                <c:v>70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Scorecard dimension</a:t>
                </a:r>
              </a:p>
            </c:rich>
          </c:tx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2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1C445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Index (baseline = 100)</a:t>
                </a:r>
              </a:p>
            </c:rich>
          </c:tx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20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410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2fb667e02345fe"/>
          <a:srcRect xmlns:a="http://schemas.openxmlformats.org/drawingml/2006/main" l="20688" t="0" r="2068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48250" y="0"/>
            <a:ext cx="71437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1865BE-DDB1-4FF9-AFBE-C44E2DC7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3C7333-2A73-43BE-B740-EB3DD6344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438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8E8FF"/>
                </a:solidFill>
              </a:defRPr>
            </a:pPr>
            <a:r>
              <a:rPr sz="975" b="1">
                <a:solidFill>
                  <a:srgbClr val="38E8FF"/>
                </a:solidFill>
              </a:rPr>
              <a:t>JARVIS WORKFORCE HQ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6E7F59-2D0F-4C03-8763-51F5E71EA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8102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825" b="1">
                <a:solidFill>
                  <a:srgbClr val="F4FBFF"/>
                </a:solidFill>
              </a:defRPr>
            </a:pPr>
            <a:r>
              <a:rPr sz="3825" b="1">
                <a:solidFill>
                  <a:srgbClr val="F4FBFF"/>
                </a:solidFill>
              </a:rPr>
              <a:t>One owner.</a:t>
            </a:r>
          </a:p>
          <a:p xmlns:a="http://schemas.openxmlformats.org/drawingml/2006/main">
            <a:pPr algn="l">
              <a:buNone/>
              <a:defRPr sz="3825" b="1">
                <a:solidFill>
                  <a:srgbClr val="F4FBFF"/>
                </a:solidFill>
              </a:defRPr>
            </a:pPr>
            <a:r>
              <a:rPr sz="3825" b="1">
                <a:solidFill>
                  <a:srgbClr val="F4FBFF"/>
                </a:solidFill>
              </a:rPr>
              <a:t>One command layer.</a:t>
            </a:r>
          </a:p>
          <a:p xmlns:a="http://schemas.openxmlformats.org/drawingml/2006/main">
            <a:pPr algn="l">
              <a:buNone/>
              <a:defRPr sz="3825" b="1">
                <a:solidFill>
                  <a:srgbClr val="F4FBFF"/>
                </a:solidFill>
              </a:defRPr>
            </a:pPr>
            <a:r>
              <a:rPr sz="3825" b="1">
                <a:solidFill>
                  <a:srgbClr val="F4FBFF"/>
                </a:solidFill>
              </a:rPr>
              <a:t>An entire supervised AI workforce.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3A8065-5CF6-476E-8D82-8F6CDCA3B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4953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8EA7B7"/>
                </a:solidFill>
              </a:defRPr>
            </a:pPr>
            <a:r>
              <a:rPr sz="1425" b="0">
                <a:solidFill>
                  <a:srgbClr val="8EA7B7"/>
                </a:solidFill>
              </a:rPr>
              <a:t>A buyer-ready blueprint for supervised AI workflows that protect human control.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F70846-B9B1-4D16-BD1C-E23EC51C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F4FF"/>
                </a:solidFill>
              </a:defRPr>
            </a:pPr>
            <a:r>
              <a:rPr sz="825" b="1">
                <a:solidFill>
                  <a:srgbClr val="9AF4FF"/>
                </a:solidFill>
              </a:rPr>
              <a:t>ONE WORKFLOW  →  HUMAN APPROVAL  →  MEASURED PROOF  →  CONTROLLED SCALE</a:t>
            </a:r>
          </a:p>
        </p:txBody>
      </p:sp>
    </p:spTree>
    <p:extLst>
      <p:ext uri="{BB962C8B-B14F-4D97-AF65-F5344CB8AC3E}">
        <p14:creationId xmlns:p14="http://schemas.microsoft.com/office/powerpoint/2010/main" val="19822468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410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F238E0D-D083-42EB-AF70-AAB966BF4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8E8FF"/>
                </a:solidFill>
              </a:defRPr>
            </a:pPr>
            <a:r>
              <a:rPr sz="825" b="1">
                <a:solidFill>
                  <a:srgbClr val="38E8FF"/>
                </a:solidFill>
              </a:rPr>
              <a:t>THE BUSINESS 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0C7887-B8A4-42F8-9C0A-740D7D81E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429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06B7B"/>
                </a:solidFill>
              </a:defRPr>
            </a:pPr>
            <a:r>
              <a:rPr sz="825" b="1">
                <a:solidFill>
                  <a:srgbClr val="506B7B"/>
                </a:solidFill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5B14B3-749A-4197-8CAE-6D67E1F45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4FBFF"/>
                </a:solidFill>
              </a:defRPr>
            </a:pPr>
            <a:r>
              <a:rPr sz="3150" b="1">
                <a:solidFill>
                  <a:srgbClr val="F4FBFF"/>
                </a:solidFill>
              </a:rPr>
              <a:t>Repetitive coordination steals time from customer work.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4A5B0B-5747-4434-929B-346F2A9C8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8EA7B7"/>
                </a:solidFill>
              </a:defRPr>
            </a:pPr>
            <a:r>
              <a:rPr sz="1350" b="0">
                <a:solidFill>
                  <a:srgbClr val="8EA7B7"/>
                </a:solidFill>
              </a:rPr>
              <a:t>Start with one bounded workflow and prove the result before expanding.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703BE1-065E-4CCB-8A4D-2B7492D95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86050"/>
            <a:ext cx="2476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6150" b="1">
                <a:solidFill>
                  <a:srgbClr val="38E8FF"/>
                </a:solidFill>
              </a:defRPr>
            </a:pPr>
            <a:r>
              <a:rPr sz="6150" b="1">
                <a:solidFill>
                  <a:srgbClr val="38E8FF"/>
                </a:solidFill>
              </a:rPr>
              <a:t>FAST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6FF848-907F-455A-8D8D-70D9C5BC9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304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4FBFF"/>
                </a:solidFill>
              </a:defRPr>
            </a:pPr>
            <a:r>
              <a:rPr sz="1500" b="1">
                <a:solidFill>
                  <a:srgbClr val="F4FBFF"/>
                </a:solidFill>
              </a:rPr>
              <a:t>first response on high-volume inquiries.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2817E6-A4C3-422C-BB76-376AF348A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609850"/>
            <a:ext cx="952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4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EFFD18-80D4-45A9-9D4F-236C3D0A5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86050"/>
            <a:ext cx="276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9AF4FF"/>
                </a:solidFill>
              </a:defRPr>
            </a:pPr>
            <a:r>
              <a:rPr sz="5400" b="1">
                <a:solidFill>
                  <a:srgbClr val="9AF4FF"/>
                </a:solidFill>
              </a:rPr>
              <a:t>FEWER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0163F9-95F4-4CE2-9B4F-BE79521E0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695700"/>
            <a:ext cx="2857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4FBFF"/>
                </a:solidFill>
              </a:defRPr>
            </a:pPr>
            <a:r>
              <a:rPr sz="1500" b="1">
                <a:solidFill>
                  <a:srgbClr val="F4FBFF"/>
                </a:solidFill>
              </a:rPr>
              <a:t>dropped follow-ups, missing documents, and unclear handoffs.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E7650A-300E-492F-AF8F-87382F033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609850"/>
            <a:ext cx="952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4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84E009-4F5B-4C16-958B-B9A696616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686050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8DFFBC"/>
                </a:solidFill>
              </a:defRPr>
            </a:pPr>
            <a:r>
              <a:rPr sz="5400" b="1">
                <a:solidFill>
                  <a:srgbClr val="8DFFBC"/>
                </a:solidFill>
              </a:rPr>
              <a:t>CLEAR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F539D5-46F7-4BF4-B1F0-911B1EB5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95700"/>
            <a:ext cx="2952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4FBFF"/>
                </a:solidFill>
              </a:defRPr>
            </a:pPr>
            <a:r>
              <a:rPr sz="1500" b="1">
                <a:solidFill>
                  <a:srgbClr val="F4FBFF"/>
                </a:solidFill>
              </a:rPr>
              <a:t>visibility into workload, exceptions, and approvals.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76870D-E062-491D-BEF2-657EC8A6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816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8EA7B7"/>
                </a:solidFill>
              </a:defRPr>
            </a:pPr>
            <a:r>
              <a:rPr sz="1800" b="0">
                <a:solidFill>
                  <a:srgbClr val="8EA7B7"/>
                </a:solidFill>
              </a:rPr>
              <a:t>The first step: baseline one workflow, run it in approval-only mode, and compare time, quality, and throughput.</a:t>
            </a:r>
          </a:p>
        </p:txBody>
      </p:sp>
    </p:spTree>
    <p:extLst>
      <p:ext uri="{BB962C8B-B14F-4D97-AF65-F5344CB8AC3E}">
        <p14:creationId xmlns:p14="http://schemas.microsoft.com/office/powerpoint/2010/main" val="150700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410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C436CE-325F-46EA-92C0-B3B7C7E6A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8E8FF"/>
                </a:solidFill>
              </a:defRPr>
            </a:pPr>
            <a:r>
              <a:rPr sz="825" b="1">
                <a:solidFill>
                  <a:srgbClr val="38E8FF"/>
                </a:solidFill>
              </a:rPr>
              <a:t>THE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BA94C0-17FC-4CE2-92CC-2B93BFD18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429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06B7B"/>
                </a:solidFill>
              </a:defRPr>
            </a:pPr>
            <a:r>
              <a:rPr sz="825" b="1">
                <a:solidFill>
                  <a:srgbClr val="506B7B"/>
                </a:solidFill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6A60DC-7AE8-4D63-A085-756BCB297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4FBFF"/>
                </a:solidFill>
              </a:defRPr>
            </a:pPr>
            <a:r>
              <a:rPr sz="3150" b="1">
                <a:solidFill>
                  <a:srgbClr val="F4FBFF"/>
                </a:solidFill>
              </a:rPr>
              <a:t>Customers brief Jarvis—not a maze of bots.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389CAB-FFC6-4B89-B4A5-8D3CED643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8EA7B7"/>
                </a:solidFill>
              </a:defRPr>
            </a:pPr>
            <a:r>
              <a:rPr sz="1350" b="0">
                <a:solidFill>
                  <a:srgbClr val="8EA7B7"/>
                </a:solidFill>
              </a:rPr>
              <a:t>Jarvis assigns the mission, coordinates specialists, checks risk, and returns one decision-ready result.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AC2408-3E9B-4872-B33C-AE9E1068D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8E8FF"/>
                </a:solidFill>
              </a:defRPr>
            </a:pPr>
            <a:r>
              <a:rPr sz="825" b="1">
                <a:solidFill>
                  <a:srgbClr val="38E8FF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377662-8BB6-4554-A48B-9555AFE10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4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829FFE-D5F0-4944-AA1B-1D4A0FF1B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4FBFF"/>
                </a:solidFill>
              </a:defRPr>
            </a:pPr>
            <a:r>
              <a:rPr sz="1875" b="1">
                <a:solidFill>
                  <a:srgbClr val="F4FBFF"/>
                </a:solidFill>
              </a:rPr>
              <a:t>Mission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BD85BF-D0DC-4442-AFB2-8FF2BB644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2362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8EA7B7"/>
                </a:solidFill>
              </a:defRPr>
            </a:pPr>
            <a:r>
              <a:rPr sz="1275" b="0">
                <a:solidFill>
                  <a:srgbClr val="8EA7B7"/>
                </a:solidFill>
              </a:rPr>
              <a:t>One business objective and one measurable workflow.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4A860F-5F53-4C4A-9A06-94D2C7B68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209925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506B7B"/>
                </a:solidFill>
              </a:defRPr>
            </a:pPr>
            <a:r>
              <a:rPr sz="1875" b="1">
                <a:solidFill>
                  <a:srgbClr val="506B7B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4A6863-A84A-4CC1-B8F3-0DE2EF3DC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8E8FF"/>
                </a:solidFill>
              </a:defRPr>
            </a:pPr>
            <a:r>
              <a:rPr sz="825" b="1">
                <a:solidFill>
                  <a:srgbClr val="38E8FF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4B4BD4-3E73-4500-8280-41E035D5C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9146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4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FC61EA-6DDF-4199-A73F-BB52C8C8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004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4FBFF"/>
                </a:solidFill>
              </a:defRPr>
            </a:pPr>
            <a:r>
              <a:rPr sz="1875" b="1">
                <a:solidFill>
                  <a:srgbClr val="F4FBFF"/>
                </a:solidFill>
              </a:rPr>
              <a:t>Specialists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B7E72B-6C79-4712-A6A1-DB629726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714750"/>
            <a:ext cx="2362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8EA7B7"/>
                </a:solidFill>
              </a:defRPr>
            </a:pPr>
            <a:r>
              <a:rPr sz="1275" b="0">
                <a:solidFill>
                  <a:srgbClr val="8EA7B7"/>
                </a:solidFill>
              </a:rPr>
              <a:t>Strategy, build, language, operations, security, and compliance.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1F3881-ECFB-4A08-A352-C636A3598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3209925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506B7B"/>
                </a:solidFill>
              </a:defRPr>
            </a:pPr>
            <a:r>
              <a:rPr sz="1875" b="1">
                <a:solidFill>
                  <a:srgbClr val="506B7B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07FE84-9D52-4D8B-82DF-EC743A09A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5717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8E8FF"/>
                </a:solidFill>
              </a:defRPr>
            </a:pPr>
            <a:r>
              <a:rPr sz="825" b="1">
                <a:solidFill>
                  <a:srgbClr val="38E8FF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AF2522-B3F2-45D4-83FD-6421AC0EF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914650"/>
            <a:ext cx="238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057FBE-8C2E-48BF-AB23-4FE1E6F0A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2004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4FBFF"/>
                </a:solidFill>
              </a:defRPr>
            </a:pPr>
            <a:r>
              <a:rPr sz="1875" b="1">
                <a:solidFill>
                  <a:srgbClr val="F4FBFF"/>
                </a:solidFill>
              </a:rPr>
              <a:t>Jarvis 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EB6622-B1DC-4BAB-A69D-5D52A6564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14750"/>
            <a:ext cx="2362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8EA7B7"/>
                </a:solidFill>
              </a:defRPr>
            </a:pPr>
            <a:r>
              <a:rPr sz="1275" b="0">
                <a:solidFill>
                  <a:srgbClr val="8EA7B7"/>
                </a:solidFill>
              </a:rPr>
              <a:t>Evidence, assumptions, risks, and the exact action awaiting approval.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046303-CD09-4BB8-951E-71220767A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3209925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506B7B"/>
                </a:solidFill>
              </a:defRPr>
            </a:pPr>
            <a:r>
              <a:rPr sz="1875" b="1">
                <a:solidFill>
                  <a:srgbClr val="506B7B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F8FC7B-C022-4CDE-BE73-68034B29B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5717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8E8FF"/>
                </a:solidFill>
              </a:defRPr>
            </a:pPr>
            <a:r>
              <a:rPr sz="825" b="1">
                <a:solidFill>
                  <a:srgbClr val="38E8FF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A38FDB-B5D8-4581-B344-513C0BCE8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9146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4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5A46DA-5510-45B1-97AA-FFC618C09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004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4FBFF"/>
                </a:solidFill>
              </a:defRPr>
            </a:pPr>
            <a:r>
              <a:rPr sz="1875" b="1">
                <a:solidFill>
                  <a:srgbClr val="F4FBFF"/>
                </a:solidFill>
              </a:rPr>
              <a:t>Human decision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857EE0-16D0-46DC-85A1-8B941085C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714750"/>
            <a:ext cx="2362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8EA7B7"/>
                </a:solidFill>
              </a:defRPr>
            </a:pPr>
            <a:r>
              <a:rPr sz="1275" b="0">
                <a:solidFill>
                  <a:srgbClr val="8EA7B7"/>
                </a:solidFill>
              </a:rPr>
              <a:t>Approve, revise, reject, or escalate before consequential action.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8305B31-20ED-4371-ADDD-63CA1D7ED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8204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0B2734"/>
          </a:solidFill>
          <a:ln xmlns:a="http://schemas.openxmlformats.org/drawingml/2006/main" w="9525">
            <a:solidFill>
              <a:srgbClr val="38E8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A81230-B48D-45AB-9673-DE171B735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2450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8E8FF"/>
                </a:solidFill>
              </a:defRPr>
            </a:pPr>
            <a:r>
              <a:rPr sz="1650" b="1">
                <a:solidFill>
                  <a:srgbClr val="38E8FF"/>
                </a:solidFill>
              </a:rPr>
              <a:t>JARVIS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B086B8-FCB9-44DF-88DD-90B300797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505450"/>
            <a:ext cx="876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4FBFF"/>
                </a:solidFill>
              </a:defRPr>
            </a:pPr>
            <a:r>
              <a:rPr sz="1350" b="0">
                <a:solidFill>
                  <a:srgbClr val="F4FBFF"/>
                </a:solidFill>
              </a:rPr>
              <a:t>The final AI coordination and review gate. Authorized humans retain control over consequential actions.</a:t>
            </a:r>
          </a:p>
        </p:txBody>
      </p:sp>
    </p:spTree>
    <p:extLst>
      <p:ext uri="{BB962C8B-B14F-4D97-AF65-F5344CB8AC3E}">
        <p14:creationId xmlns:p14="http://schemas.microsoft.com/office/powerpoint/2010/main" val="204407094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410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D20559A-221A-4230-BCFB-1BC87452D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8E8FF"/>
                </a:solidFill>
              </a:defRPr>
            </a:pPr>
            <a:r>
              <a:rPr sz="825" b="1">
                <a:solidFill>
                  <a:srgbClr val="38E8FF"/>
                </a:solidFill>
              </a:rPr>
              <a:t>THE WORKFORCE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8D63EB-5789-450F-8A74-7D80495B5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429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06B7B"/>
                </a:solidFill>
              </a:defRPr>
            </a:pPr>
            <a:r>
              <a:rPr sz="825" b="1">
                <a:solidFill>
                  <a:srgbClr val="506B7B"/>
                </a:solidFill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BFA248-C5D6-4C7F-97CC-3838F201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4FBFF"/>
                </a:solidFill>
              </a:defRPr>
            </a:pPr>
            <a:r>
              <a:rPr sz="3150" b="1">
                <a:solidFill>
                  <a:srgbClr val="F4FBFF"/>
                </a:solidFill>
              </a:rPr>
              <a:t>Twenty specialists behave like one accountable operating team.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75DC12-E253-4E12-ACEC-99F05AC3E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8EA7B7"/>
                </a:solidFill>
              </a:defRPr>
            </a:pPr>
            <a:r>
              <a:rPr sz="1350" b="0">
                <a:solidFill>
                  <a:srgbClr val="8EA7B7"/>
                </a:solidFill>
              </a:rPr>
              <a:t>Each role has defined inputs, outputs, boundaries, and an escalation path.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31620B-75C0-46FC-B3DD-BB651DA8D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2143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38E8FF"/>
                </a:solidFill>
              </a:defRPr>
            </a:pPr>
            <a:r>
              <a:rPr sz="900" b="1">
                <a:solidFill>
                  <a:srgbClr val="38E8FF"/>
                </a:solidFill>
              </a:rPr>
              <a:t>STRATEGY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55EE2D-BB42-465A-99C2-918033F95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43150"/>
            <a:ext cx="433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BFF"/>
                </a:solidFill>
              </a:defRPr>
            </a:pPr>
            <a:r>
              <a:rPr sz="1275" b="1">
                <a:solidFill>
                  <a:srgbClr val="F4FBFF"/>
                </a:solidFill>
              </a:rPr>
              <a:t>MARK · DUSTIN · PAM · JIM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15BC86-AF8E-4746-9405-E211AC595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431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8EA7B7"/>
                </a:solidFill>
              </a:defRPr>
            </a:pPr>
            <a:r>
              <a:rPr sz="1200" b="0">
                <a:solidFill>
                  <a:srgbClr val="8EA7B7"/>
                </a:solidFill>
              </a:rPr>
              <a:t>Offer, ROI, roadmap, product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706B47-182A-43DF-9C82-839ABC448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52725"/>
            <a:ext cx="10648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4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75ACB1-CECA-465C-8E27-357CDF965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2143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38E8FF"/>
                </a:solidFill>
              </a:defRPr>
            </a:pPr>
            <a:r>
              <a:rPr sz="900" b="1">
                <a:solidFill>
                  <a:srgbClr val="38E8FF"/>
                </a:solidFill>
              </a:rPr>
              <a:t>BUILD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03BD87-4819-4784-BEE1-6430638BE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86100"/>
            <a:ext cx="433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BFF"/>
                </a:solidFill>
              </a:defRPr>
            </a:pPr>
            <a:r>
              <a:rPr sz="1275" b="1">
                <a:solidFill>
                  <a:srgbClr val="F4FBFF"/>
                </a:solidFill>
              </a:rPr>
              <a:t>BOB · LEO · HAL · DAVE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7296BB-AF6D-4E5B-BC7D-07F1BB6B1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861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8EA7B7"/>
                </a:solidFill>
              </a:defRPr>
            </a:pPr>
            <a:r>
              <a:rPr sz="1200" b="0">
                <a:solidFill>
                  <a:srgbClr val="8EA7B7"/>
                </a:solidFill>
              </a:rPr>
              <a:t>Automation, APIs, ML,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AE5663-6FE2-41A9-8D46-19FD918A7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95675"/>
            <a:ext cx="10648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4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23108B-5AEB-4F5C-9E2C-FD48905F5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2143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38E8FF"/>
                </a:solidFill>
              </a:defRPr>
            </a:pPr>
            <a:r>
              <a:rPr sz="900" b="1">
                <a:solidFill>
                  <a:srgbClr val="38E8FF"/>
                </a:solidFill>
              </a:rPr>
              <a:t>LANGUAGE + RESEARCH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6A3E53-3D63-4561-91FC-2C45CE429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829050"/>
            <a:ext cx="433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BFF"/>
                </a:solidFill>
              </a:defRPr>
            </a:pPr>
            <a:r>
              <a:rPr sz="1275" b="1">
                <a:solidFill>
                  <a:srgbClr val="F4FBFF"/>
                </a:solidFill>
              </a:rPr>
              <a:t>JAN · STEVE · NEIL · CARL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4C9BED-E86C-401C-B16E-0D4CFD58F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290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8EA7B7"/>
                </a:solidFill>
              </a:defRPr>
            </a:pPr>
            <a:r>
              <a:rPr sz="1200" b="0">
                <a:solidFill>
                  <a:srgbClr val="8EA7B7"/>
                </a:solidFill>
              </a:rPr>
              <a:t>RAG, analysis, evaluation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9B3DEC-47CE-43E4-8F76-0A88477D9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38625"/>
            <a:ext cx="10648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4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AB0B5D-3BBA-4C3A-919F-5BFFF6F71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2143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38E8FF"/>
                </a:solidFill>
              </a:defRPr>
            </a:pPr>
            <a:r>
              <a:rPr sz="900" b="1">
                <a:solidFill>
                  <a:srgbClr val="38E8FF"/>
                </a:solidFill>
              </a:rPr>
              <a:t>OPERATIONS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0E47D1-C49F-4173-BBA5-E2AEADECD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572000"/>
            <a:ext cx="433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BFF"/>
                </a:solidFill>
              </a:defRPr>
            </a:pPr>
            <a:r>
              <a:rPr sz="1275" b="1">
                <a:solidFill>
                  <a:srgbClr val="F4FBFF"/>
                </a:solidFill>
              </a:rPr>
              <a:t>TED · JOHN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33BB88-B72B-4816-8F6C-62EF87134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5720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8EA7B7"/>
                </a:solidFill>
              </a:defRPr>
            </a:pPr>
            <a:r>
              <a:rPr sz="1200" b="0">
                <a:solidFill>
                  <a:srgbClr val="8EA7B7"/>
                </a:solidFill>
              </a:rPr>
              <a:t>Deploy, monitor, improve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7E0696-D9E7-44D9-823B-DA6D71F53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81575"/>
            <a:ext cx="10648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4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940825-C55E-4280-A3E6-CEB9F3582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2143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8DFFBC"/>
                </a:solidFill>
              </a:defRPr>
            </a:pPr>
            <a:r>
              <a:rPr sz="900" b="1">
                <a:solidFill>
                  <a:srgbClr val="8DFFBC"/>
                </a:solidFill>
              </a:rPr>
              <a:t>TRUST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ACF042-B9F7-4B65-A8D9-30F0B9C6E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314950"/>
            <a:ext cx="433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BFF"/>
                </a:solidFill>
              </a:defRPr>
            </a:pPr>
            <a:r>
              <a:rPr sz="1275" b="1">
                <a:solidFill>
                  <a:srgbClr val="F4FBFF"/>
                </a:solidFill>
              </a:rPr>
              <a:t>BENICIO · JOSH · BILLY · VERONICA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1010DA-936A-406D-89D0-5A06970DB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3149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8EA7B7"/>
                </a:solidFill>
              </a:defRPr>
            </a:pPr>
            <a:r>
              <a:rPr sz="1200" b="0">
                <a:solidFill>
                  <a:srgbClr val="8EA7B7"/>
                </a:solidFill>
              </a:rPr>
              <a:t>Security, red-team, risk, compliance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66C2EE-3160-4134-9525-7438EB9B5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24525"/>
            <a:ext cx="10648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455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1409298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410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A6FEB1-D8FC-4D82-BBFC-BB54481CD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8E8FF"/>
                </a:solidFill>
              </a:defRPr>
            </a:pPr>
            <a:r>
              <a:rPr sz="825" b="1">
                <a:solidFill>
                  <a:srgbClr val="38E8FF"/>
                </a:solidFill>
              </a:rPr>
              <a:t>THE FIRST WIN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74B91F-6000-4595-B5AB-759125AC7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429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06B7B"/>
                </a:solidFill>
              </a:defRPr>
            </a:pPr>
            <a:r>
              <a:rPr sz="825" b="1">
                <a:solidFill>
                  <a:srgbClr val="506B7B"/>
                </a:solidFill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B974F7-7658-4584-883C-7E045645D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4FBFF"/>
                </a:solidFill>
              </a:defRPr>
            </a:pPr>
            <a:r>
              <a:rPr sz="3150" b="1">
                <a:solidFill>
                  <a:srgbClr val="F4FBFF"/>
                </a:solidFill>
              </a:rPr>
              <a:t>Start with one painful workflow—not an AI transformation.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98CBD3-C330-4A07-8613-D9EA3B31D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8EA7B7"/>
                </a:solidFill>
              </a:defRPr>
            </a:pPr>
            <a:r>
              <a:rPr sz="1350" b="0">
                <a:solidFill>
                  <a:srgbClr val="8EA7B7"/>
                </a:solidFill>
              </a:rPr>
              <a:t>A 14-day approval-only sprint creates the first credible proof.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EBF5F9-AF2A-4068-8BB1-538413F4E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0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F4FBFF"/>
                </a:solidFill>
              </a:defRPr>
            </a:pPr>
            <a:r>
              <a:rPr sz="2175" b="1">
                <a:solidFill>
                  <a:srgbClr val="F4FBFF"/>
                </a:solidFill>
              </a:rPr>
              <a:t>Example: slow lead follow-up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B54DCC-326F-48F0-80C4-126A49A9F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432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8EA7B7"/>
                </a:solidFill>
              </a:defRPr>
            </a:pPr>
            <a:r>
              <a:rPr sz="1275" b="1">
                <a:solidFill>
                  <a:srgbClr val="8EA7B7"/>
                </a:solidFill>
              </a:rPr>
              <a:t>New inquiry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B566BA-E7B4-4E70-9501-459E18147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1432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06B7B"/>
                </a:solidFill>
              </a:defRPr>
            </a:pPr>
            <a:r>
              <a:rPr sz="1200" b="0">
                <a:solidFill>
                  <a:srgbClr val="506B7B"/>
                </a:solidFill>
              </a:rPr>
              <a:t>waits in inbox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B0CD80-CE70-46CA-AF2B-84964789D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338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8EA7B7"/>
                </a:solidFill>
              </a:defRPr>
            </a:pPr>
            <a:r>
              <a:rPr sz="1275" b="1">
                <a:solidFill>
                  <a:srgbClr val="8EA7B7"/>
                </a:solidFill>
              </a:rPr>
              <a:t>Owner researches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AA1854-C7E2-47B3-BC35-C183DBA1D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7338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06B7B"/>
                </a:solidFill>
              </a:defRPr>
            </a:pPr>
            <a:r>
              <a:rPr sz="1200" b="0">
                <a:solidFill>
                  <a:srgbClr val="506B7B"/>
                </a:solidFill>
              </a:rPr>
              <a:t>between meetings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06B212-0135-4BB1-87AB-D2C4CC26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243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8EA7B7"/>
                </a:solidFill>
              </a:defRPr>
            </a:pPr>
            <a:r>
              <a:rPr sz="1275" b="1">
                <a:solidFill>
                  <a:srgbClr val="8EA7B7"/>
                </a:solidFill>
              </a:rPr>
              <a:t>Follow-up drafted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809CBE-08F1-42BC-8433-202DB9D3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243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06B7B"/>
                </a:solidFill>
              </a:defRPr>
            </a:pPr>
            <a:r>
              <a:rPr sz="1200" b="0">
                <a:solidFill>
                  <a:srgbClr val="506B7B"/>
                </a:solidFill>
              </a:rPr>
              <a:t>inconsistently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78631A-DFD3-4DC8-A299-311F512E7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149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8EA7B7"/>
                </a:solidFill>
              </a:defRPr>
            </a:pPr>
            <a:r>
              <a:rPr sz="1275" b="1">
                <a:solidFill>
                  <a:srgbClr val="8EA7B7"/>
                </a:solidFill>
              </a:rPr>
              <a:t>CRM updated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3FA8CA-69C4-4352-9E44-531EB2525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9149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06B7B"/>
                </a:solidFill>
              </a:defRPr>
            </a:pPr>
            <a:r>
              <a:rPr sz="1200" b="0">
                <a:solidFill>
                  <a:srgbClr val="506B7B"/>
                </a:solidFill>
              </a:rPr>
              <a:t>when time allows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6D05AC-2D66-4490-893D-851E6C26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733800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38E8FF"/>
                </a:solidFill>
              </a:defRPr>
            </a:pPr>
            <a:r>
              <a:rPr sz="3300" b="1">
                <a:solidFill>
                  <a:srgbClr val="38E8FF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C76343-C3B7-44AB-ADF7-124D23581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00300"/>
            <a:ext cx="5295900" cy="30861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0A202E"/>
          </a:solidFill>
          <a:ln xmlns:a="http://schemas.openxmlformats.org/drawingml/2006/main" w="9525">
            <a:solidFill>
              <a:srgbClr val="38E8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BF0697-522A-4C12-8D6A-C6639517F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86050"/>
            <a:ext cx="428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8E8FF"/>
                </a:solidFill>
              </a:defRPr>
            </a:pPr>
            <a:r>
              <a:rPr sz="825" b="1">
                <a:solidFill>
                  <a:srgbClr val="38E8FF"/>
                </a:solidFill>
              </a:rPr>
              <a:t>JARVIS-SUPERVISED FLOW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B6C89F-D01D-4F3B-AC91-E9C59DF3D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1242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F4FF"/>
                </a:solidFill>
              </a:defRPr>
            </a:pPr>
            <a:r>
              <a:rPr sz="825" b="1">
                <a:solidFill>
                  <a:srgbClr val="9AF4FF"/>
                </a:solidFill>
              </a:rPr>
              <a:t>01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CEEBAA-EEC8-473F-AE58-476F6C7B3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10515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BFF"/>
                </a:solidFill>
              </a:defRPr>
            </a:pPr>
            <a:r>
              <a:rPr sz="1275" b="0">
                <a:solidFill>
                  <a:srgbClr val="F4FBFF"/>
                </a:solidFill>
              </a:rPr>
              <a:t>Acknowledge immediately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B48D57-BB61-4EAD-9546-6FF863EF1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528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F4FF"/>
                </a:solidFill>
              </a:defRPr>
            </a:pPr>
            <a:r>
              <a:rPr sz="825" b="1">
                <a:solidFill>
                  <a:srgbClr val="9AF4FF"/>
                </a:solidFill>
              </a:rPr>
              <a:t>02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882078-51E8-4ADC-9316-75C98AC68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533775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BFF"/>
                </a:solidFill>
              </a:defRPr>
            </a:pPr>
            <a:r>
              <a:rPr sz="1275" b="0">
                <a:solidFill>
                  <a:srgbClr val="F4FBFF"/>
                </a:solidFill>
              </a:rPr>
              <a:t>Qualify and research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C38755-27FD-43B0-A411-5A9330AB5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814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F4FF"/>
                </a:solidFill>
              </a:defRPr>
            </a:pPr>
            <a:r>
              <a:rPr sz="825" b="1">
                <a:solidFill>
                  <a:srgbClr val="9AF4FF"/>
                </a:solidFill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336316-7A78-4F6D-B4DC-7C5C38252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9624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BFF"/>
                </a:solidFill>
              </a:defRPr>
            </a:pPr>
            <a:r>
              <a:rPr sz="1275" b="0">
                <a:solidFill>
                  <a:srgbClr val="F4FBFF"/>
                </a:solidFill>
              </a:rPr>
              <a:t>Prepare personalized follow-up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2EC3A8-6B61-4E13-BA79-56F9F3E47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41007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F4FF"/>
                </a:solidFill>
              </a:defRPr>
            </a:pPr>
            <a:r>
              <a:rPr sz="825" b="1">
                <a:solidFill>
                  <a:srgbClr val="9AF4FF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A9E0BF-99F2-47FD-A4AB-67FD1C786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391025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BFF"/>
                </a:solidFill>
              </a:defRPr>
            </a:pPr>
            <a:r>
              <a:rPr sz="1275" b="0">
                <a:solidFill>
                  <a:srgbClr val="F4FBFF"/>
                </a:solidFill>
              </a:rPr>
              <a:t>Flag uncertainty and sensitive cases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891107-7984-4CD4-81B7-D54053A21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F4FF"/>
                </a:solidFill>
              </a:defRPr>
            </a:pPr>
            <a:r>
              <a:rPr sz="825" b="1">
                <a:solidFill>
                  <a:srgbClr val="9AF4FF"/>
                </a:solidFill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0E7AC0-9E0E-4E57-981B-CDABB6343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81965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BFF"/>
                </a:solidFill>
              </a:defRPr>
            </a:pPr>
            <a:r>
              <a:rPr sz="1275" b="1">
                <a:solidFill>
                  <a:srgbClr val="F4FBFF"/>
                </a:solidFill>
              </a:rPr>
              <a:t>Present exact action for approval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CC30F5-68F0-4D25-BD76-089E1739F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8170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8EA7B7"/>
                </a:solidFill>
              </a:defRPr>
            </a:pPr>
            <a:r>
              <a:rPr sz="1200" b="0">
                <a:solidFill>
                  <a:srgbClr val="8EA7B7"/>
                </a:solidFill>
              </a:rPr>
              <a:t>Target metrics: response time · follow-up completion · booked-call conversion · exceptions · owner hours</a:t>
            </a:r>
          </a:p>
        </p:txBody>
      </p:sp>
    </p:spTree>
    <p:extLst>
      <p:ext uri="{BB962C8B-B14F-4D97-AF65-F5344CB8AC3E}">
        <p14:creationId xmlns:p14="http://schemas.microsoft.com/office/powerpoint/2010/main" val="9528735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410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D29BA9-0CC8-4EFD-82E9-5D6B8BDE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8E8FF"/>
                </a:solidFill>
              </a:defRPr>
            </a:pPr>
            <a:r>
              <a:rPr sz="825" b="1">
                <a:solidFill>
                  <a:srgbClr val="38E8FF"/>
                </a:solidFill>
              </a:rPr>
              <a:t>THE PROOF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24AE11-EA42-4AEA-857C-FAEF07B6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429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06B7B"/>
                </a:solidFill>
              </a:defRPr>
            </a:pPr>
            <a:r>
              <a:rPr sz="825" b="1">
                <a:solidFill>
                  <a:srgbClr val="506B7B"/>
                </a:solidFill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E165F8-00DA-4D54-A0AB-74957A00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4FBFF"/>
                </a:solidFill>
              </a:defRPr>
            </a:pPr>
            <a:r>
              <a:rPr sz="3150" b="1">
                <a:solidFill>
                  <a:srgbClr val="F4FBFF"/>
                </a:solidFill>
              </a:rPr>
              <a:t>Every pilot creates the evidence required to decide what comes next.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8CAA75-5ACD-453B-AD0E-497FBE08B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8EA7B7"/>
                </a:solidFill>
              </a:defRPr>
            </a:pPr>
            <a:r>
              <a:rPr sz="1350" b="0">
                <a:solidFill>
                  <a:srgbClr val="8EA7B7"/>
                </a:solidFill>
              </a:rPr>
              <a:t>Your team sees measured work, exceptions, and corrections—not a promise of magic.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F51B40-7479-4D7A-956A-8E277599F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79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38E8FF"/>
                </a:solidFill>
              </a:defRPr>
            </a:pPr>
            <a:r>
              <a:rPr sz="2250" b="1">
                <a:solidFill>
                  <a:srgbClr val="38E8FF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5DCBAB-EB11-444B-BA26-AACC56244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14700"/>
            <a:ext cx="2324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4FBFF"/>
                </a:solidFill>
              </a:defRPr>
            </a:pPr>
            <a:r>
              <a:rPr sz="1050" b="1">
                <a:solidFill>
                  <a:srgbClr val="F4FBFF"/>
                </a:solidFill>
              </a:rPr>
              <a:t>BASELINE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81A9AD-4E22-4FBA-876B-B1A8052EB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95700"/>
            <a:ext cx="2305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8EA7B7"/>
                </a:solidFill>
              </a:defRPr>
            </a:pPr>
            <a:r>
              <a:rPr sz="1275" b="0">
                <a:solidFill>
                  <a:srgbClr val="8EA7B7"/>
                </a:solidFill>
              </a:rPr>
              <a:t>Measure delay, hours, errors, throughput, or conversion.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8D4408-E41A-463F-8097-5FE70717D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343275"/>
            <a:ext cx="323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506B7B"/>
                </a:solidFill>
              </a:defRPr>
            </a:pPr>
            <a:r>
              <a:rPr sz="1650" b="1">
                <a:solidFill>
                  <a:srgbClr val="506B7B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8832D2-6B76-4C51-9E0E-A14B854BE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6479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38E8FF"/>
                </a:solidFill>
              </a:defRPr>
            </a:pPr>
            <a:r>
              <a:rPr sz="2250" b="1">
                <a:solidFill>
                  <a:srgbClr val="38E8FF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3FFE15-353E-4A3B-962C-CB1BD4B1E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314700"/>
            <a:ext cx="2324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4FBFF"/>
                </a:solidFill>
              </a:defRPr>
            </a:pPr>
            <a:r>
              <a:rPr sz="1050" b="1">
                <a:solidFill>
                  <a:srgbClr val="F4FBFF"/>
                </a:solidFill>
              </a:rPr>
              <a:t>APPROVAL MODE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528236-C957-41A0-B56E-235A5469C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695700"/>
            <a:ext cx="2305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8EA7B7"/>
                </a:solidFill>
              </a:defRPr>
            </a:pPr>
            <a:r>
              <a:rPr sz="1275" b="0">
                <a:solidFill>
                  <a:srgbClr val="8EA7B7"/>
                </a:solidFill>
              </a:rPr>
              <a:t>Log drafts, corrections, exceptions, and human decisions.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3AC970-7DB7-4907-AF7C-26051BFEB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343275"/>
            <a:ext cx="323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506B7B"/>
                </a:solidFill>
              </a:defRPr>
            </a:pPr>
            <a:r>
              <a:rPr sz="1650" b="1">
                <a:solidFill>
                  <a:srgbClr val="506B7B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FC93C6-B441-4736-B45C-BBAFA57B7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6479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38E8FF"/>
                </a:solidFill>
              </a:defRPr>
            </a:pPr>
            <a:r>
              <a:rPr sz="2250" b="1">
                <a:solidFill>
                  <a:srgbClr val="38E8FF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AB4DD6-036B-41F8-9D79-E8217A1AF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14700"/>
            <a:ext cx="2324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4FBFF"/>
                </a:solidFill>
              </a:defRPr>
            </a:pPr>
            <a:r>
              <a:rPr sz="1050" b="1">
                <a:solidFill>
                  <a:srgbClr val="F4FBFF"/>
                </a:solidFill>
              </a:rPr>
              <a:t>VERIFIED RESULT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BCBD98-89FC-44ED-8AAA-15EFE385B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695700"/>
            <a:ext cx="2305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8EA7B7"/>
                </a:solidFill>
              </a:defRPr>
            </a:pPr>
            <a:r>
              <a:rPr sz="1275" b="0">
                <a:solidFill>
                  <a:srgbClr val="8EA7B7"/>
                </a:solidFill>
              </a:rPr>
              <a:t>Compare response time, workload, quality, and throughput.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3B3F98-3AD3-4B31-B0DA-7198942B1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43275"/>
            <a:ext cx="323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506B7B"/>
                </a:solidFill>
              </a:defRPr>
            </a:pPr>
            <a:r>
              <a:rPr sz="1650" b="1">
                <a:solidFill>
                  <a:srgbClr val="506B7B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1E61D0-D2E6-4762-BCF3-B1367BBCB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6479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38E8FF"/>
                </a:solidFill>
              </a:defRPr>
            </a:pPr>
            <a:r>
              <a:rPr sz="2250" b="1">
                <a:solidFill>
                  <a:srgbClr val="38E8FF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AC2056-D39A-4334-A5AA-1519F36F7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314700"/>
            <a:ext cx="2324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4FBFF"/>
                </a:solidFill>
              </a:defRPr>
            </a:pPr>
            <a:r>
              <a:rPr sz="1050" b="1">
                <a:solidFill>
                  <a:srgbClr val="F4FBFF"/>
                </a:solidFill>
              </a:rPr>
              <a:t>EXPAND OR STOP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174D12-AFFB-488B-9AA8-37579084F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695700"/>
            <a:ext cx="2305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8EA7B7"/>
                </a:solidFill>
              </a:defRPr>
            </a:pPr>
            <a:r>
              <a:rPr sz="1275" b="0">
                <a:solidFill>
                  <a:srgbClr val="8EA7B7"/>
                </a:solidFill>
              </a:rPr>
              <a:t>Scale only when the measured result justifies the next workflow.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893489-D7EE-4846-8F79-91CB988B6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19700"/>
            <a:ext cx="107061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B2734"/>
          </a:solidFill>
          <a:ln xmlns:a="http://schemas.openxmlformats.org/drawingml/2006/main" w="9525">
            <a:solidFill>
              <a:srgbClr val="1C445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27F868-F093-448C-BBAF-DBA95A55F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483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8E8FF"/>
                </a:solidFill>
              </a:defRPr>
            </a:pPr>
            <a:r>
              <a:rPr sz="1275" b="1">
                <a:solidFill>
                  <a:srgbClr val="38E8FF"/>
                </a:solidFill>
              </a:rPr>
              <a:t>Pilot decision: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F44A49-6C06-49B9-A21B-0FA19CFDE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4102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4FBFF"/>
                </a:solidFill>
              </a:defRPr>
            </a:pPr>
            <a:r>
              <a:rPr sz="1500" b="1">
                <a:solidFill>
                  <a:srgbClr val="F4FBFF"/>
                </a:solidFill>
              </a:rPr>
              <a:t>Did the workflow improve speed or capacity without removing human control?</a:t>
            </a:r>
          </a:p>
        </p:txBody>
      </p:sp>
    </p:spTree>
    <p:extLst>
      <p:ext uri="{BB962C8B-B14F-4D97-AF65-F5344CB8AC3E}">
        <p14:creationId xmlns:p14="http://schemas.microsoft.com/office/powerpoint/2010/main" val="16994189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410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419872-56E5-4497-B4DC-C893BEF2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8E8FF"/>
                </a:solidFill>
              </a:defRPr>
            </a:pPr>
            <a:r>
              <a:rPr sz="825" b="1">
                <a:solidFill>
                  <a:srgbClr val="38E8FF"/>
                </a:solidFill>
              </a:rPr>
              <a:t>WHERE IT FITS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929C49-24D6-4B50-91EC-29EA55446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429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06B7B"/>
                </a:solidFill>
              </a:defRPr>
            </a:pPr>
            <a:r>
              <a:rPr sz="825" b="1">
                <a:solidFill>
                  <a:srgbClr val="506B7B"/>
                </a:solidFill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6AF29C-1142-4689-ADA2-C4FC704A1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4FBFF"/>
                </a:solidFill>
              </a:defRPr>
            </a:pPr>
            <a:r>
              <a:rPr sz="3150" b="1">
                <a:solidFill>
                  <a:srgbClr val="F4FBFF"/>
                </a:solidFill>
              </a:rPr>
              <a:t>Choose the workflow with visible volume, delay, and ownership.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C3441D-AF29-4509-933D-2B076BFAC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24050"/>
            <a:ext cx="1009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8EA7B7"/>
                </a:solidFill>
              </a:defRPr>
            </a:pPr>
            <a:r>
              <a:rPr sz="1275" b="0">
                <a:solidFill>
                  <a:srgbClr val="8EA7B7"/>
                </a:solidFill>
              </a:rPr>
              <a:t>The strongest first use cases are repetitive, measurable, and safe to run in approval-only mode.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FC0C82-6C2E-41ED-98DB-CD90C5106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7650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38E8FF"/>
                </a:solidFill>
              </a:defRPr>
            </a:pPr>
            <a:r>
              <a:rPr sz="900" b="1">
                <a:solidFill>
                  <a:srgbClr val="38E8FF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B75A3B-81A5-4BD3-85C7-C93067FCA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43840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BFF"/>
                </a:solidFill>
              </a:defRPr>
            </a:pPr>
            <a:r>
              <a:rPr sz="1725" b="1">
                <a:solidFill>
                  <a:srgbClr val="F4FBFF"/>
                </a:solidFill>
              </a:rPr>
              <a:t>LEAD + INTAKE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7B9D05-07E5-446F-BD77-AD2B95B5D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476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8EA7B7"/>
                </a:solidFill>
              </a:defRPr>
            </a:pPr>
            <a:r>
              <a:rPr sz="1350" b="0">
                <a:solidFill>
                  <a:srgbClr val="8EA7B7"/>
                </a:solidFill>
              </a:rPr>
              <a:t>Acknowledge, qualify, research, and route inquiries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4160E7-ADDE-435D-9B2B-92A7C2AA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43225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4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0201EC-5750-4B5A-A611-76F00B8B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38E8FF"/>
                </a:solidFill>
              </a:defRPr>
            </a:pPr>
            <a:r>
              <a:rPr sz="900" b="1">
                <a:solidFill>
                  <a:srgbClr val="38E8FF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4D5D3A-15CF-4EB3-88F3-3B67E88AF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2194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BFF"/>
                </a:solidFill>
              </a:defRPr>
            </a:pPr>
            <a:r>
              <a:rPr sz="1725" b="1">
                <a:solidFill>
                  <a:srgbClr val="F4FBFF"/>
                </a:solidFill>
              </a:rPr>
              <a:t>DOCUMENT WORK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B9B5D1-B732-429B-8846-04231CF7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25755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8EA7B7"/>
                </a:solidFill>
              </a:defRPr>
            </a:pPr>
            <a:r>
              <a:rPr sz="1350" b="0">
                <a:solidFill>
                  <a:srgbClr val="8EA7B7"/>
                </a:solidFill>
              </a:rPr>
              <a:t>Collect, classify, summarize, and flag missing items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A595F9-EB15-4E83-9FA0-9CC8C2746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24275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4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23F465-3C6F-4D0B-BA14-783BE321B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3860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38E8FF"/>
                </a:solidFill>
              </a:defRPr>
            </a:pPr>
            <a:r>
              <a:rPr sz="900" b="1">
                <a:solidFill>
                  <a:srgbClr val="38E8FF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2DC5CE-AB73-4FB7-B5A8-7F3DE2875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BFF"/>
                </a:solidFill>
              </a:defRPr>
            </a:pPr>
            <a:r>
              <a:rPr sz="1725" b="1">
                <a:solidFill>
                  <a:srgbClr val="F4FBFF"/>
                </a:solidFill>
              </a:rPr>
              <a:t>COORDINATION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86C17C-4083-495D-A247-11EFAC345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40386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8EA7B7"/>
                </a:solidFill>
              </a:defRPr>
            </a:pPr>
            <a:r>
              <a:rPr sz="1350" b="0">
                <a:solidFill>
                  <a:srgbClr val="8EA7B7"/>
                </a:solidFill>
              </a:rPr>
              <a:t>Prepare schedules, status updates, and internal handoffs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BE48F7-2758-4722-BCC8-AB40B034E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05325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4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358E2E-570D-4FC0-9CE3-4988A7007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38E8FF"/>
                </a:solidFill>
              </a:defRPr>
            </a:pPr>
            <a:r>
              <a:rPr sz="900" b="1">
                <a:solidFill>
                  <a:srgbClr val="38E8FF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BF85CE-0205-41C0-9BE8-885DC5A3D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815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BFF"/>
                </a:solidFill>
              </a:defRPr>
            </a:pPr>
            <a:r>
              <a:rPr sz="1725" b="1">
                <a:solidFill>
                  <a:srgbClr val="F4FBFF"/>
                </a:solidFill>
              </a:rPr>
              <a:t>REPORTING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6F4AD1-1ECB-4CB4-9936-40434AD33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481965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8EA7B7"/>
                </a:solidFill>
              </a:defRPr>
            </a:pPr>
            <a:r>
              <a:rPr sz="1350" b="0">
                <a:solidFill>
                  <a:srgbClr val="8EA7B7"/>
                </a:solidFill>
              </a:rPr>
              <a:t>Turn activity into decision-ready summaries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006C91-2480-419C-8781-83BD62B6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86375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4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A57296-8C51-4BB4-9D80-B027AEADE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67400"/>
            <a:ext cx="1009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9AF4FF"/>
                </a:solidFill>
              </a:defRPr>
            </a:pPr>
            <a:r>
              <a:rPr sz="1125" b="1">
                <a:solidFill>
                  <a:srgbClr val="9AF4FF"/>
                </a:solidFill>
              </a:rPr>
              <a:t>Good first workflow: repeated weekly · measurable baseline · named approver · reversible pilot · no autonomous consequential action</a:t>
            </a:r>
          </a:p>
        </p:txBody>
      </p:sp>
    </p:spTree>
    <p:extLst>
      <p:ext uri="{BB962C8B-B14F-4D97-AF65-F5344CB8AC3E}">
        <p14:creationId xmlns:p14="http://schemas.microsoft.com/office/powerpoint/2010/main" val="21264164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410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167483-6A9E-4CF3-A0DB-1D8764DE5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8E8FF"/>
                </a:solidFill>
              </a:defRPr>
            </a:pPr>
            <a:r>
              <a:rPr sz="825" b="1">
                <a:solidFill>
                  <a:srgbClr val="38E8FF"/>
                </a:solidFill>
              </a:rPr>
              <a:t>THE ENGAGEMENT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E690E9-D591-4CA7-9B09-23F60A865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429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06B7B"/>
                </a:solidFill>
              </a:defRPr>
            </a:pPr>
            <a:r>
              <a:rPr sz="825" b="1">
                <a:solidFill>
                  <a:srgbClr val="506B7B"/>
                </a:solidFill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181D89-551E-486B-83E1-75D4A88B0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4FBFF"/>
                </a:solidFill>
              </a:defRPr>
            </a:pPr>
            <a:r>
              <a:rPr sz="3150" b="1">
                <a:solidFill>
                  <a:srgbClr val="F4FBFF"/>
                </a:solidFill>
              </a:rPr>
              <a:t>Start with a blueprint, prove one workflow, then expand.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FA9C1A-F177-43E6-BA7E-2FB8E0F89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8EA7B7"/>
                </a:solidFill>
              </a:defRPr>
            </a:pPr>
            <a:r>
              <a:rPr sz="1350" b="0">
                <a:solidFill>
                  <a:srgbClr val="8EA7B7"/>
                </a:solidFill>
              </a:rPr>
              <a:t>Scope and risk determine final pricing; every stage has an approval gate.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A2F346-4EC7-47DD-BA9C-94BD13558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8DFFBC"/>
                </a:solidFill>
              </a:defRPr>
            </a:pPr>
            <a:r>
              <a:rPr sz="2850" b="1">
                <a:solidFill>
                  <a:srgbClr val="8DFFBC"/>
                </a:solidFill>
              </a:rPr>
              <a:t>$299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A31EB9-C130-4887-9A01-450F74880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7185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4FBFF"/>
                </a:solidFill>
              </a:defRPr>
            </a:pPr>
            <a:r>
              <a:rPr sz="1500" b="1">
                <a:solidFill>
                  <a:srgbClr val="F4FBFF"/>
                </a:solidFill>
              </a:rPr>
              <a:t>Founding Blueprint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8BA18B-278B-49C3-AD3A-67A9F3EE0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48100"/>
            <a:ext cx="23241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8EA7B7"/>
                </a:solidFill>
              </a:defRPr>
            </a:pPr>
            <a:r>
              <a:rPr sz="1200" b="0">
                <a:solidFill>
                  <a:srgbClr val="8EA7B7"/>
                </a:solidFill>
              </a:rPr>
              <a:t>Top opportunities, workflow map, agent roster, 30-day plan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D85198-CB1D-45A4-AAB3-96DFA340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43500"/>
            <a:ext cx="2343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FFB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EAE9A0-6F90-4617-95B5-F3726CA6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62890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38E8FF"/>
                </a:solidFill>
              </a:defRPr>
            </a:pPr>
            <a:r>
              <a:rPr sz="2850" b="1">
                <a:solidFill>
                  <a:srgbClr val="38E8FF"/>
                </a:solidFill>
              </a:rPr>
              <a:t>$7.5K+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71BC2C-CD26-4C1B-B5BA-0662B97B9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37185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4FBFF"/>
                </a:solidFill>
              </a:defRPr>
            </a:pPr>
            <a:r>
              <a:rPr sz="1500" b="1">
                <a:solidFill>
                  <a:srgbClr val="F4FBFF"/>
                </a:solidFill>
              </a:rPr>
              <a:t>3-Agent Launch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870829-DF57-4EBF-AAB7-B0A745282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848100"/>
            <a:ext cx="23241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8EA7B7"/>
                </a:solidFill>
              </a:defRPr>
            </a:pPr>
            <a:r>
              <a:rPr sz="1200" b="0">
                <a:solidFill>
                  <a:srgbClr val="8EA7B7"/>
                </a:solidFill>
              </a:rPr>
              <a:t>Three configured specialists, integrations, tests, and approval rules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CD23D3-98EC-404B-A4A7-555322801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143500"/>
            <a:ext cx="2343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4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1EF6E6-E3DF-4926-952D-922997F26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2890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38E8FF"/>
                </a:solidFill>
              </a:defRPr>
            </a:pPr>
            <a:r>
              <a:rPr sz="2850" b="1">
                <a:solidFill>
                  <a:srgbClr val="38E8FF"/>
                </a:solidFill>
              </a:rPr>
              <a:t>$3K+/mo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DF03A7-9957-43F2-9F94-E87CE7ED3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7185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4FBFF"/>
                </a:solidFill>
              </a:defRPr>
            </a:pPr>
            <a:r>
              <a:rPr sz="1500" b="1">
                <a:solidFill>
                  <a:srgbClr val="F4FBFF"/>
                </a:solidFill>
              </a:rPr>
              <a:t>Managed AI Operations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A8FE41-A49C-4DA3-8FF5-93B64E01A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848100"/>
            <a:ext cx="23241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8EA7B7"/>
                </a:solidFill>
              </a:defRPr>
            </a:pPr>
            <a:r>
              <a:rPr sz="1200" b="0">
                <a:solidFill>
                  <a:srgbClr val="8EA7B7"/>
                </a:solidFill>
              </a:rPr>
              <a:t>Quality review, optimization, governance reporting, and new-agent allowance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BCB2F7-F7B2-40E1-A645-4D9E02899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143500"/>
            <a:ext cx="2343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4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0AFC33-6AEA-4836-88C7-2097D8E25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62890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38E8FF"/>
                </a:solidFill>
              </a:defRPr>
            </a:pPr>
            <a:r>
              <a:rPr sz="2850" b="1">
                <a:solidFill>
                  <a:srgbClr val="38E8FF"/>
                </a:solidFill>
              </a:rPr>
              <a:t>CUSTOM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D29038-9B13-4CB8-B3E3-A87E9C6D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337185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4FBFF"/>
                </a:solidFill>
              </a:defRPr>
            </a:pPr>
            <a:r>
              <a:rPr sz="1500" b="1">
                <a:solidFill>
                  <a:srgbClr val="F4FBFF"/>
                </a:solidFill>
              </a:rPr>
              <a:t>Growth Command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5E3628-6766-49BC-B389-3A195708E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3848100"/>
            <a:ext cx="23241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8EA7B7"/>
                </a:solidFill>
              </a:defRPr>
            </a:pPr>
            <a:r>
              <a:rPr sz="1200" b="0">
                <a:solidFill>
                  <a:srgbClr val="8EA7B7"/>
                </a:solidFill>
              </a:rPr>
              <a:t>Expanded workflows, weekly strategy, and priority implementation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DA2768-7378-491E-BF2E-55B64209A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5143500"/>
            <a:ext cx="2343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4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DA4C18-B314-4D77-A0C0-6BD01D416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76900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4FBFF"/>
                </a:solidFill>
              </a:defRPr>
            </a:pPr>
            <a:r>
              <a:rPr sz="1875" b="1">
                <a:solidFill>
                  <a:srgbClr val="F4FBFF"/>
                </a:solidFill>
              </a:rPr>
              <a:t>Blueprint  →  Approved scope  →  Implementation  →  Managed operations  →  Expansion</a:t>
            </a:r>
          </a:p>
        </p:txBody>
      </p:sp>
    </p:spTree>
    <p:extLst>
      <p:ext uri="{BB962C8B-B14F-4D97-AF65-F5344CB8AC3E}">
        <p14:creationId xmlns:p14="http://schemas.microsoft.com/office/powerpoint/2010/main" val="87238356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410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26FA50-FDE1-4F6A-96B7-AD9519CC3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8E8FF"/>
                </a:solidFill>
              </a:defRPr>
            </a:pPr>
            <a:r>
              <a:rPr sz="825" b="1">
                <a:solidFill>
                  <a:srgbClr val="38E8FF"/>
                </a:solidFill>
              </a:rPr>
              <a:t>THE PILOT SCORECARD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0A5F33-F98F-4539-9D2B-7A44031C8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429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06B7B"/>
                </a:solidFill>
              </a:defRPr>
            </a:pPr>
            <a:r>
              <a:rPr sz="825" b="1">
                <a:solidFill>
                  <a:srgbClr val="506B7B"/>
                </a:solidFill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8DFC2E-29DE-4D31-BD2A-E9C53E11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4FBFF"/>
                </a:solidFill>
              </a:defRPr>
            </a:pPr>
            <a:r>
              <a:rPr sz="3150" b="1">
                <a:solidFill>
                  <a:srgbClr val="F4FBFF"/>
                </a:solidFill>
              </a:rPr>
              <a:t>Expansion follows measured evidence—not projected savings.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3FCD3D-3ED9-4916-B579-204BF01E0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8EA7B7"/>
                </a:solidFill>
              </a:defRPr>
            </a:pPr>
            <a:r>
              <a:rPr sz="1350" b="0">
                <a:solidFill>
                  <a:srgbClr val="8EA7B7"/>
                </a:solidFill>
              </a:rPr>
              <a:t>Agree on baselines and decision rules before implementation begins.</a:t>
            </a:r>
          </a:p>
        </p:txBody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685800" y="2571750"/>
          <a:ext xmlns:a="http://schemas.openxmlformats.org/drawingml/2006/main" cx="657225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bf2c29c469d4a63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F3150B-281A-47CB-A4D7-4823A8BF3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590800"/>
            <a:ext cx="3429000" cy="30861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0A202E"/>
          </a:solidFill>
          <a:ln xmlns:a="http://schemas.openxmlformats.org/drawingml/2006/main" w="9525">
            <a:solidFill>
              <a:srgbClr val="1C44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881346-E6A3-40F7-88EC-6649040F1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7655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8E8FF"/>
                </a:solidFill>
              </a:defRPr>
            </a:pPr>
            <a:r>
              <a:rPr sz="825" b="1">
                <a:solidFill>
                  <a:srgbClr val="38E8FF"/>
                </a:solidFill>
              </a:rPr>
              <a:t>DECISION MEASURES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797F06-0F07-4CFA-AEAD-0C5A14080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528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8E8FF"/>
                </a:solidFill>
              </a:defRPr>
            </a:pPr>
            <a:r>
              <a:rPr sz="1200" b="1">
                <a:solidFill>
                  <a:srgbClr val="38E8FF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8470F2-A4CB-4C16-8580-540CF8DB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3337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4FBFF"/>
                </a:solidFill>
              </a:defRPr>
            </a:pPr>
            <a:r>
              <a:rPr sz="1200" b="0">
                <a:solidFill>
                  <a:srgbClr val="F4FBFF"/>
                </a:solidFill>
              </a:rPr>
              <a:t>Response time + completion rate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738D42-AB6D-45A6-95F6-3CB6E4624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719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8E8FF"/>
                </a:solidFill>
              </a:defRPr>
            </a:pPr>
            <a:r>
              <a:rPr sz="1200" b="1">
                <a:solidFill>
                  <a:srgbClr val="38E8FF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CCC18D-6C11-4707-9840-1BFA96EA5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752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4FBFF"/>
                </a:solidFill>
              </a:defRPr>
            </a:pPr>
            <a:r>
              <a:rPr sz="1200" b="0">
                <a:solidFill>
                  <a:srgbClr val="F4FBFF"/>
                </a:solidFill>
              </a:rPr>
              <a:t>Staff hours + exception volume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15F81F-763E-403D-A069-72A40AF25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910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8E8FF"/>
                </a:solidFill>
              </a:defRPr>
            </a:pPr>
            <a:r>
              <a:rPr sz="1200" b="1">
                <a:solidFill>
                  <a:srgbClr val="38E8FF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340B0F-E118-4B94-93E3-2055F8E92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1719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4FBFF"/>
                </a:solidFill>
              </a:defRPr>
            </a:pPr>
            <a:r>
              <a:rPr sz="1200" b="0">
                <a:solidFill>
                  <a:srgbClr val="F4FBFF"/>
                </a:solidFill>
              </a:rPr>
              <a:t>Accuracy + correction rate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89B5DC-7D3A-4414-BE96-C3E257190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101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8E8FF"/>
                </a:solidFill>
              </a:defRPr>
            </a:pPr>
            <a:r>
              <a:rPr sz="1200" b="1">
                <a:solidFill>
                  <a:srgbClr val="38E8FF"/>
                </a:solidFill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D42B22-7C4E-4DE7-9A37-BE1096C3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5910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4FBFF"/>
                </a:solidFill>
              </a:defRPr>
            </a:pPr>
            <a:r>
              <a:rPr sz="1200" b="0">
                <a:solidFill>
                  <a:srgbClr val="F4FBFF"/>
                </a:solidFill>
              </a:rPr>
              <a:t>Customer or owner experience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99FD52-72F0-4E50-AB56-F3862EEF4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292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8E8FF"/>
                </a:solidFill>
              </a:defRPr>
            </a:pPr>
            <a:r>
              <a:rPr sz="1200" b="1">
                <a:solidFill>
                  <a:srgbClr val="38E8FF"/>
                </a:solidFill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1231D9-BCD9-480D-9A1D-788DF0A26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0101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4FBFF"/>
                </a:solidFill>
              </a:defRPr>
            </a:pPr>
            <a:r>
              <a:rPr sz="1200" b="0">
                <a:solidFill>
                  <a:srgbClr val="F4FBFF"/>
                </a:solidFill>
              </a:rPr>
              <a:t>Operating cost + support burden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0DA4FA-D688-47B4-930F-C26F25B6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43625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8EA7B7"/>
                </a:solidFill>
              </a:defRPr>
            </a:pPr>
            <a:r>
              <a:rPr sz="975" b="0">
                <a:solidFill>
                  <a:srgbClr val="8EA7B7"/>
                </a:solidFill>
              </a:rPr>
              <a:t>Illustrative index: lower is better for response/admin effort; higher is better for completion. Agree baselines before launch.</a:t>
            </a:r>
          </a:p>
        </p:txBody>
      </p:sp>
    </p:spTree>
    <p:extLst>
      <p:ext uri="{BB962C8B-B14F-4D97-AF65-F5344CB8AC3E}">
        <p14:creationId xmlns:p14="http://schemas.microsoft.com/office/powerpoint/2010/main" val="49540393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410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1280A8-4482-4BF9-BF32-B9A9DBE16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8E8FF"/>
                </a:solidFill>
              </a:defRPr>
            </a:pPr>
            <a:r>
              <a:rPr sz="825" b="1">
                <a:solidFill>
                  <a:srgbClr val="38E8FF"/>
                </a:solidFill>
              </a:rPr>
              <a:t>GOVERNED EXECUTION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187F21-52CC-4982-AB49-A45DEBEF0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429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06B7B"/>
                </a:solidFill>
              </a:defRPr>
            </a:pPr>
            <a:r>
              <a:rPr sz="825" b="1">
                <a:solidFill>
                  <a:srgbClr val="506B7B"/>
                </a:solidFill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7F788F-9C1C-4BA0-950E-56044B175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4FBFF"/>
                </a:solidFill>
              </a:defRPr>
            </a:pPr>
            <a:r>
              <a:rPr sz="3150" b="1">
                <a:solidFill>
                  <a:srgbClr val="F4FBFF"/>
                </a:solidFill>
              </a:rPr>
              <a:t>Trust is a product feature—not a legal footnote.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C01F27-0287-4246-80B4-D91B48B8A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8EA7B7"/>
                </a:solidFill>
              </a:defRPr>
            </a:pPr>
            <a:r>
              <a:rPr sz="1350" b="0">
                <a:solidFill>
                  <a:srgbClr val="8EA7B7"/>
                </a:solidFill>
              </a:rPr>
              <a:t>The system is designed to help teams scale repetitive work while people retain judgment and authority.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AE5A89-F243-4374-9897-629E39C61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6220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8E8FF"/>
                </a:solidFill>
              </a:defRPr>
            </a:pPr>
            <a:r>
              <a:rPr sz="825" b="1">
                <a:solidFill>
                  <a:srgbClr val="38E8FF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E76C52-BD10-454E-8162-72D3DBF4A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3431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4FBFF"/>
                </a:solidFill>
              </a:defRPr>
            </a:pPr>
            <a:r>
              <a:rPr sz="1200" b="1">
                <a:solidFill>
                  <a:srgbClr val="F4FBFF"/>
                </a:solidFill>
              </a:rPr>
              <a:t>LEAST PRIVILEGE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35EA62-9FAC-4F51-941A-42201EF66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343150"/>
            <a:ext cx="7067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8EA7B7"/>
                </a:solidFill>
              </a:defRPr>
            </a:pPr>
            <a:r>
              <a:rPr sz="1275" b="0">
                <a:solidFill>
                  <a:srgbClr val="8EA7B7"/>
                </a:solidFill>
              </a:rPr>
              <a:t>Minimum necessary access for each authorized workflow.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E7BCE3-038A-4320-894C-23C4EAA11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6225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4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70924C-348F-42BF-A5DC-B81C3F3A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8E8FF"/>
                </a:solidFill>
              </a:defRPr>
            </a:pPr>
            <a:r>
              <a:rPr sz="825" b="1">
                <a:solidFill>
                  <a:srgbClr val="38E8FF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012229-DD16-469A-9F0E-BBF137A8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289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4FBFF"/>
                </a:solidFill>
              </a:defRPr>
            </a:pPr>
            <a:r>
              <a:rPr sz="1200" b="1">
                <a:solidFill>
                  <a:srgbClr val="F4FBFF"/>
                </a:solidFill>
              </a:rPr>
              <a:t>HUMAN APPROVAL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CCE897-E442-4FB9-82C8-9454F3171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028950"/>
            <a:ext cx="7067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8EA7B7"/>
                </a:solidFill>
              </a:defRPr>
            </a:pPr>
            <a:r>
              <a:rPr sz="1275" b="0">
                <a:solidFill>
                  <a:srgbClr val="8EA7B7"/>
                </a:solidFill>
              </a:rPr>
              <a:t>External communication, publishing, payments, and consequential changes wait.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3BBA40-372C-4397-8932-8112CC400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4805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4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374FAD-ED0A-4979-B9E2-411216E16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3380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8E8FF"/>
                </a:solidFill>
              </a:defRPr>
            </a:pPr>
            <a:r>
              <a:rPr sz="825" b="1">
                <a:solidFill>
                  <a:srgbClr val="38E8FF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D419E6-5E9C-41EB-86A2-7463A286E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7147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4FBFF"/>
                </a:solidFill>
              </a:defRPr>
            </a:pPr>
            <a:r>
              <a:rPr sz="1200" b="1">
                <a:solidFill>
                  <a:srgbClr val="F4FBFF"/>
                </a:solidFill>
              </a:rPr>
              <a:t>QUALITY + RED TEAM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694930-FBCD-4961-A8F9-2D27DF73F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714750"/>
            <a:ext cx="7067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8EA7B7"/>
                </a:solidFill>
              </a:defRPr>
            </a:pPr>
            <a:r>
              <a:rPr sz="1275" b="0">
                <a:solidFill>
                  <a:srgbClr val="8EA7B7"/>
                </a:solidFill>
              </a:rPr>
              <a:t>Sensitive outputs receive factual, security, and adversarial review.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2F948A-CBBF-46EF-BFE7-29A1385F7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3385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4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577015-2D62-4493-841D-7C16F5EF7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1960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8E8FF"/>
                </a:solidFill>
              </a:defRPr>
            </a:pPr>
            <a:r>
              <a:rPr sz="825" b="1">
                <a:solidFill>
                  <a:srgbClr val="38E8FF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0A2D52-7DC8-4843-992B-AC55F9E60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005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4FBFF"/>
                </a:solidFill>
              </a:defRPr>
            </a:pPr>
            <a:r>
              <a:rPr sz="1200" b="1">
                <a:solidFill>
                  <a:srgbClr val="F4FBFF"/>
                </a:solidFill>
              </a:rPr>
              <a:t>ESCALATION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94AFF0-F693-424F-B377-0201B193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400550"/>
            <a:ext cx="7067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8EA7B7"/>
                </a:solidFill>
              </a:defRPr>
            </a:pPr>
            <a:r>
              <a:rPr sz="1275" b="0">
                <a:solidFill>
                  <a:srgbClr val="8EA7B7"/>
                </a:solidFill>
              </a:rPr>
              <a:t>Low confidence, conflict, privacy, and policy issues route to a named owner.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969B4A-CA30-456D-AEB6-32CF0D1D4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965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4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75FDCF-6278-440A-BFE1-8E58D05F2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0540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8E8FF"/>
                </a:solidFill>
              </a:defRPr>
            </a:pPr>
            <a:r>
              <a:rPr sz="825" b="1">
                <a:solidFill>
                  <a:srgbClr val="38E8FF"/>
                </a:solidFill>
              </a:rPr>
              <a:t>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CC7F14-24A3-4EA7-935A-A9D34A33F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863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4FBFF"/>
                </a:solidFill>
              </a:defRPr>
            </a:pPr>
            <a:r>
              <a:rPr sz="1200" b="1">
                <a:solidFill>
                  <a:srgbClr val="F4FBFF"/>
                </a:solidFill>
              </a:rPr>
              <a:t>MEASUREMENT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5404DA-39F8-451E-A7F2-B0277801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5086350"/>
            <a:ext cx="7067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8EA7B7"/>
                </a:solidFill>
              </a:defRPr>
            </a:pPr>
            <a:r>
              <a:rPr sz="1275" b="0">
                <a:solidFill>
                  <a:srgbClr val="8EA7B7"/>
                </a:solidFill>
              </a:rPr>
              <a:t>Time, throughput, quality, cost, conversion, reliability, and renewal intent.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8C4253-C040-457C-91F7-A2217DA7B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0545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455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6888619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410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4EB0A2-23FB-4DB0-B5BF-AE22CE97C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8E8FF"/>
                </a:solidFill>
              </a:defRPr>
            </a:pPr>
            <a:r>
              <a:rPr sz="825" b="1">
                <a:solidFill>
                  <a:srgbClr val="38E8FF"/>
                </a:solidFill>
              </a:rPr>
              <a:t>THE ROLLOUT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9E4155-7508-42F3-B90C-73BAD0BFC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429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06B7B"/>
                </a:solidFill>
              </a:defRPr>
            </a:pPr>
            <a:r>
              <a:rPr sz="825" b="1">
                <a:solidFill>
                  <a:srgbClr val="506B7B"/>
                </a:solidFill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28EB1B-82CA-464C-996B-D7CB17057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4FBFF"/>
                </a:solidFill>
              </a:defRPr>
            </a:pPr>
            <a:r>
              <a:rPr sz="3150" b="1">
                <a:solidFill>
                  <a:srgbClr val="F4FBFF"/>
                </a:solidFill>
              </a:rPr>
              <a:t>Thirty days to a decision-ready pilot.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E73730-D0D0-4711-87EB-4A3B04BF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8EA7B7"/>
                </a:solidFill>
              </a:defRPr>
            </a:pPr>
            <a:r>
              <a:rPr sz="1350" b="0">
                <a:solidFill>
                  <a:srgbClr val="8EA7B7"/>
                </a:solidFill>
              </a:rPr>
              <a:t>Jarvis remains the single point of coordination and final AI review throughout.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0208E6-8361-436C-BFCA-BD20C9685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8E8FF"/>
                </a:solidFill>
              </a:defRPr>
            </a:pPr>
            <a:r>
              <a:rPr sz="825" b="1">
                <a:solidFill>
                  <a:srgbClr val="38E8FF"/>
                </a:solidFill>
              </a:rPr>
              <a:t>DAYS 1–3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4C6821-9C59-4376-BF7E-D1BB03BDB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4FBFF"/>
                </a:solidFill>
              </a:defRPr>
            </a:pPr>
            <a:r>
              <a:rPr sz="2250" b="1">
                <a:solidFill>
                  <a:srgbClr val="F4FBFF"/>
                </a:solidFill>
              </a:rPr>
              <a:t>Scope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FA6575-F6BC-418C-A4DC-FCFCE1A2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3300"/>
            <a:ext cx="233362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8EA7B7"/>
                </a:solidFill>
              </a:defRPr>
            </a:pPr>
            <a:r>
              <a:rPr sz="1275" b="0">
                <a:solidFill>
                  <a:srgbClr val="8EA7B7"/>
                </a:solidFill>
              </a:rPr>
              <a:t>Choose one workflow, define the baseline, name the approver, and confirm exclusions.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83AC5A-3EF8-4ADA-AB6A-C69BDB8B6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2343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4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70F627-3405-409F-9747-929127DE3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5146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8E8FF"/>
                </a:solidFill>
              </a:defRPr>
            </a:pPr>
            <a:r>
              <a:rPr sz="825" b="1">
                <a:solidFill>
                  <a:srgbClr val="38E8FF"/>
                </a:solidFill>
              </a:rPr>
              <a:t>DAYS 4–10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CABB7B-18E7-49C5-A19B-6F10FFAFB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9527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4FBFF"/>
                </a:solidFill>
              </a:defRPr>
            </a:pPr>
            <a:r>
              <a:rPr sz="2250" b="1">
                <a:solidFill>
                  <a:srgbClr val="F4FBFF"/>
                </a:solidFill>
              </a:rPr>
              <a:t>Configure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8EDB78-2B46-4328-BD1D-F55434C67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543300"/>
            <a:ext cx="233362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8EA7B7"/>
                </a:solidFill>
              </a:defRPr>
            </a:pPr>
            <a:r>
              <a:rPr sz="1275" b="0">
                <a:solidFill>
                  <a:srgbClr val="8EA7B7"/>
                </a:solidFill>
              </a:rPr>
              <a:t>Map inputs, permissions, templates, escalation rules, and test cases.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F26F3F-92C7-44B0-86B4-4A6ED2AA2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5067300"/>
            <a:ext cx="2343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4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EBEA88-8C28-4525-BCCF-C87AC6D3F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146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8E8FF"/>
                </a:solidFill>
              </a:defRPr>
            </a:pPr>
            <a:r>
              <a:rPr sz="825" b="1">
                <a:solidFill>
                  <a:srgbClr val="38E8FF"/>
                </a:solidFill>
              </a:rPr>
              <a:t>DAYS 11–20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4C531D-5290-4309-B7AC-E5255A1FF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527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4FBFF"/>
                </a:solidFill>
              </a:defRPr>
            </a:pPr>
            <a:r>
              <a:rPr sz="2250" b="1">
                <a:solidFill>
                  <a:srgbClr val="F4FBFF"/>
                </a:solidFill>
              </a:rPr>
              <a:t>Pilot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538A4C-7885-4D39-8E98-37CC9477C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43300"/>
            <a:ext cx="233362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8EA7B7"/>
                </a:solidFill>
              </a:defRPr>
            </a:pPr>
            <a:r>
              <a:rPr sz="1275" b="0">
                <a:solidFill>
                  <a:srgbClr val="8EA7B7"/>
                </a:solidFill>
              </a:rPr>
              <a:t>Run approval-only; log output, corrections, exceptions, time, and quality.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4CFE21-3D71-4387-9B20-F0AF2C3A5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67300"/>
            <a:ext cx="2343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4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2182DE-D98C-44F0-B0BB-83AE16307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5146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8E8FF"/>
                </a:solidFill>
              </a:defRPr>
            </a:pPr>
            <a:r>
              <a:rPr sz="825" b="1">
                <a:solidFill>
                  <a:srgbClr val="38E8FF"/>
                </a:solidFill>
              </a:rPr>
              <a:t>DAYS 21–30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E3F732-09B4-4417-AF3C-9FA9CD4B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9527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4FBFF"/>
                </a:solidFill>
              </a:defRPr>
            </a:pPr>
            <a:r>
              <a:rPr sz="2250" b="1">
                <a:solidFill>
                  <a:srgbClr val="F4FBFF"/>
                </a:solidFill>
              </a:rPr>
              <a:t>Decide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2F6111-DAB0-4AD9-9B44-1421B6799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543300"/>
            <a:ext cx="233362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8EA7B7"/>
                </a:solidFill>
              </a:defRPr>
            </a:pPr>
            <a:r>
              <a:rPr sz="1275" b="0">
                <a:solidFill>
                  <a:srgbClr val="8EA7B7"/>
                </a:solidFill>
              </a:rPr>
              <a:t>Review the evidence and choose whether to expand, revise, pause, or stop.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250708-D402-4C56-A806-88E6D9E95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5067300"/>
            <a:ext cx="2343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FFB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35CAD2-6D24-4207-B660-AEB18AAAC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8204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0B2734"/>
          </a:solidFill>
          <a:ln xmlns:a="http://schemas.openxmlformats.org/drawingml/2006/main" w="9525">
            <a:solidFill>
              <a:srgbClr val="38E8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4EE740-52E5-40ED-8C7A-F2D33E704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53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8E8FF"/>
                </a:solidFill>
              </a:defRPr>
            </a:pPr>
            <a:r>
              <a:rPr sz="825" b="1">
                <a:solidFill>
                  <a:srgbClr val="38E8FF"/>
                </a:solidFill>
              </a:rPr>
              <a:t>NEXT DECISION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AC5FCD-025D-4CC2-88A6-A28E20DA8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63880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4FBFF"/>
                </a:solidFill>
              </a:defRPr>
            </a:pPr>
            <a:r>
              <a:rPr sz="1500" b="1">
                <a:solidFill>
                  <a:srgbClr val="F4FBFF"/>
                </a:solidFill>
              </a:rPr>
              <a:t>Approve one bounded workflow for a 48-hour blueprint review.</a:t>
            </a:r>
          </a:p>
        </p:txBody>
      </p:sp>
    </p:spTree>
    <p:extLst>
      <p:ext uri="{BB962C8B-B14F-4D97-AF65-F5344CB8AC3E}">
        <p14:creationId xmlns:p14="http://schemas.microsoft.com/office/powerpoint/2010/main" val="20735629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2026-07-30T23:20:14.7060000Z</dcterms:created>
  <dcterms:modified xsi:type="dcterms:W3CDTF">2026-07-30T23:20:14.7060000Z</dcterms:modified>
</coreProperties>
</file>